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layout2.xml" ContentType="application/vnd.openxmlformats-officedocument.drawingml.diagramLayout+xml"/>
  <Override PartName="/ppt/notesSlides/notesSlide5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5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03.xml.rels" ContentType="application/vnd.openxmlformats-package.relationships+xml"/>
  <Override PartName="/ppt/notesSlides/_rels/notesSlide8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4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9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93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76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03.xml" ContentType="application/vnd.openxmlformats-officedocument.presentationml.notesSlide+xml"/>
  <Override PartName="/ppt/media/image57.png" ContentType="image/png"/>
  <Override PartName="/ppt/media/image1.png" ContentType="image/png"/>
  <Override PartName="/ppt/media/image9.png" ContentType="image/png"/>
  <Override PartName="/ppt/media/image75.png" ContentType="image/png"/>
  <Override PartName="/ppt/media/image58.png" ContentType="image/png"/>
  <Override PartName="/ppt/media/image130.png" ContentType="image/png"/>
  <Override PartName="/ppt/media/image2.png" ContentType="image/png"/>
  <Override PartName="/ppt/media/image3.png" ContentType="image/png"/>
  <Override PartName="/ppt/media/image59.png" ContentType="image/png"/>
  <Override PartName="/ppt/media/image17.jpeg" ContentType="image/jpeg"/>
  <Override PartName="/ppt/media/image70.png" ContentType="image/png"/>
  <Override PartName="/ppt/media/image4.png" ContentType="image/png"/>
  <Override PartName="/ppt/media/image71.png" ContentType="image/png"/>
  <Override PartName="/ppt/media/image5.png" ContentType="image/png"/>
  <Override PartName="/ppt/media/image72.png" ContentType="image/png"/>
  <Override PartName="/ppt/media/image6.png" ContentType="image/png"/>
  <Override PartName="/ppt/media/image34.jpeg" ContentType="image/jpeg"/>
  <Override PartName="/ppt/media/image73.png" ContentType="image/png"/>
  <Override PartName="/ppt/media/image7.png" ContentType="image/png"/>
  <Override PartName="/ppt/media/image74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43.gif" ContentType="image/gif"/>
  <Override PartName="/ppt/media/image23.png" ContentType="image/png"/>
  <Override PartName="/ppt/media/image24.jpeg" ContentType="image/jpeg"/>
  <Override PartName="/ppt/media/image25.png" ContentType="image/png"/>
  <Override PartName="/ppt/media/image26.png" ContentType="image/png"/>
  <Override PartName="/ppt/media/image27.png" ContentType="image/png"/>
  <Override PartName="/ppt/media/image100.png" ContentType="image/png"/>
  <Override PartName="/ppt/media/image28.png" ContentType="image/png"/>
  <Override PartName="/ppt/media/image101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110.png" ContentType="image/png"/>
  <Override PartName="/ppt/media/image38.png" ContentType="image/png"/>
  <Override PartName="/ppt/media/image111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120.png" ContentType="image/png"/>
  <Override PartName="/ppt/media/image48.png" ContentType="image/png"/>
  <Override PartName="/ppt/media/image121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media/image86.png" ContentType="image/pn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png" ContentType="image/png"/>
  <Override PartName="/ppt/media/image92.png" ContentType="image/png"/>
  <Override PartName="/ppt/media/image93.png" ContentType="image/png"/>
  <Override PartName="/ppt/media/image94.png" ContentType="image/png"/>
  <Override PartName="/ppt/media/image95.png" ContentType="image/png"/>
  <Override PartName="/ppt/media/image96.png" ContentType="image/png"/>
  <Override PartName="/ppt/media/image97.png" ContentType="image/png"/>
  <Override PartName="/ppt/media/image98.png" ContentType="image/png"/>
  <Override PartName="/ppt/media/image99.png" ContentType="image/png"/>
  <Override PartName="/ppt/media/image102.png" ContentType="image/png"/>
  <Override PartName="/ppt/media/image103.png" ContentType="image/png"/>
  <Override PartName="/ppt/media/image104.png" ContentType="image/png"/>
  <Override PartName="/ppt/media/image105.png" ContentType="image/png"/>
  <Override PartName="/ppt/media/image106.png" ContentType="image/png"/>
  <Override PartName="/ppt/media/image107.png" ContentType="image/png"/>
  <Override PartName="/ppt/media/image108.png" ContentType="image/png"/>
  <Override PartName="/ppt/media/image109.png" ContentType="image/png"/>
  <Override PartName="/ppt/media/image112.png" ContentType="image/png"/>
  <Override PartName="/ppt/media/image113.png" ContentType="image/png"/>
  <Override PartName="/ppt/media/image114.png" ContentType="image/png"/>
  <Override PartName="/ppt/media/image115.png" ContentType="image/png"/>
  <Override PartName="/ppt/media/image116.png" ContentType="image/png"/>
  <Override PartName="/ppt/media/image117.png" ContentType="image/png"/>
  <Override PartName="/ppt/media/image118.png" ContentType="image/png"/>
  <Override PartName="/ppt/media/image119.png" ContentType="image/png"/>
  <Override PartName="/ppt/media/image122.png" ContentType="image/png"/>
  <Override PartName="/ppt/media/image123.png" ContentType="image/png"/>
  <Override PartName="/ppt/media/image124.png" ContentType="image/png"/>
  <Override PartName="/ppt/media/image125.png" ContentType="image/png"/>
  <Override PartName="/ppt/media/image126.png" ContentType="image/png"/>
  <Override PartName="/ppt/media/image127.png" ContentType="image/png"/>
  <Override PartName="/ppt/media/image128.png" ContentType="image/png"/>
  <Override PartName="/ppt/media/image129.png" ContentType="image/png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_rels/slide53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37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slides/_rels/slide81.xml.rels" ContentType="application/vnd.openxmlformats-package.relationships+xml"/>
  <Override PartName="/ppt/slides/_rels/slide82.xml.rels" ContentType="application/vnd.openxmlformats-package.relationships+xml"/>
  <Override PartName="/ppt/slides/_rels/slide83.xml.rels" ContentType="application/vnd.openxmlformats-package.relationships+xml"/>
  <Override PartName="/ppt/slides/_rels/slide84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slides/_rels/slide88.xml.rels" ContentType="application/vnd.openxmlformats-package.relationships+xml"/>
  <Override PartName="/ppt/slides/_rels/slide89.xml.rels" ContentType="application/vnd.openxmlformats-package.relationships+xml"/>
  <Override PartName="/ppt/slides/_rels/slide90.xml.rels" ContentType="application/vnd.openxmlformats-package.relationships+xml"/>
  <Override PartName="/ppt/slides/_rels/slide91.xml.rels" ContentType="application/vnd.openxmlformats-package.relationships+xml"/>
  <Override PartName="/ppt/slides/_rels/slide92.xml.rels" ContentType="application/vnd.openxmlformats-package.relationships+xml"/>
  <Override PartName="/ppt/slides/_rels/slide93.xml.rels" ContentType="application/vnd.openxmlformats-package.relationships+xml"/>
  <Override PartName="/ppt/slides/_rels/slide94.xml.rels" ContentType="application/vnd.openxmlformats-package.relationships+xml"/>
  <Override PartName="/ppt/slides/_rels/slide95.xml.rels" ContentType="application/vnd.openxmlformats-package.relationships+xml"/>
  <Override PartName="/ppt/slides/_rels/slide96.xml.rels" ContentType="application/vnd.openxmlformats-package.relationships+xml"/>
  <Override PartName="/ppt/slides/_rels/slide97.xml.rels" ContentType="application/vnd.openxmlformats-package.relationships+xml"/>
  <Override PartName="/ppt/slides/_rels/slide98.xml.rels" ContentType="application/vnd.openxmlformats-package.relationships+xml"/>
  <Override PartName="/ppt/slides/_rels/slide99.xml.rels" ContentType="application/vnd.openxmlformats-package.relationships+xml"/>
  <Override PartName="/ppt/slides/_rels/slide100.xml.rels" ContentType="application/vnd.openxmlformats-package.relationships+xml"/>
  <Override PartName="/ppt/slides/_rels/slide101.xml.rels" ContentType="application/vnd.openxmlformats-package.relationships+xml"/>
  <Override PartName="/ppt/slides/_rels/slide102.xml.rels" ContentType="application/vnd.openxmlformats-package.relationships+xml"/>
  <Override PartName="/ppt/slides/_rels/slide103.xml.rels" ContentType="application/vnd.openxmlformats-package.relationships+xml"/>
  <Override PartName="/ppt/slides/_rels/slide104.xml.rels" ContentType="application/vnd.openxmlformats-package.relationshi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1803E-DCB0-4417-BF46-5C2C9AA96ACB}" type="doc">
      <dgm:prSet loTypeId="urn:microsoft.com/office/officeart/2005/8/layout/vList2" loCatId="list" qsTypeId="urn:microsoft.com/office/officeart/2005/8/quickstyle/simple5" qsCatId="simple" csTypeId="urn:microsoft.com/office/officeart/2005/8/colors/accent5_5" csCatId="accent5" phldr="1"/>
      <dgm:spPr/>
      <dgm:t>
        <a:bodyPr/>
        <a:lstStyle/>
        <a:p>
          <a:endParaRPr lang="es-ES"/>
        </a:p>
      </dgm:t>
    </dgm:pt>
    <dgm:pt modelId="{985C32F6-BA1B-47A6-A8D5-09BD2DC03E69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 err="1">
              <a:solidFill>
                <a:schemeClr val="tx1"/>
              </a:solidFill>
              <a:effectLst/>
            </a:rPr>
            <a:t>TypeScript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93A3EC25-F0E6-427C-A76C-1C54D5F56901}" type="parTrans" cxnId="{FEF021E3-C412-4E09-87D9-56CC5DD7B2DA}">
      <dgm:prSet/>
      <dgm:spPr/>
      <dgm:t>
        <a:bodyPr/>
        <a:lstStyle/>
        <a:p>
          <a:endParaRPr lang="es-ES"/>
        </a:p>
      </dgm:t>
    </dgm:pt>
    <dgm:pt modelId="{C0B69872-52FF-4814-8629-DE87A1BCBCC8}" type="sibTrans" cxnId="{FEF021E3-C412-4E09-87D9-56CC5DD7B2DA}">
      <dgm:prSet/>
      <dgm:spPr/>
      <dgm:t>
        <a:bodyPr/>
        <a:lstStyle/>
        <a:p>
          <a:endParaRPr lang="es-ES"/>
        </a:p>
      </dgm:t>
    </dgm:pt>
    <dgm:pt modelId="{8807AF56-6BE0-4272-A071-5A651ABDF517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>
              <a:solidFill>
                <a:schemeClr val="tx1"/>
              </a:solidFill>
              <a:effectLst/>
            </a:rPr>
            <a:t>Angular: </a:t>
          </a:r>
          <a:r>
            <a:rPr lang="es-ES" b="1" dirty="0" err="1">
              <a:solidFill>
                <a:schemeClr val="tx1"/>
              </a:solidFill>
              <a:effectLst/>
            </a:rPr>
            <a:t>Getting</a:t>
          </a:r>
          <a:r>
            <a:rPr lang="es-ES" b="1" dirty="0">
              <a:solidFill>
                <a:schemeClr val="tx1"/>
              </a:solidFill>
              <a:effectLst/>
            </a:rPr>
            <a:t> </a:t>
          </a:r>
          <a:r>
            <a:rPr lang="es-ES" b="1" dirty="0" err="1">
              <a:solidFill>
                <a:schemeClr val="tx1"/>
              </a:solidFill>
              <a:effectLst/>
            </a:rPr>
            <a:t>started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4ADFC6E5-37B7-41C6-AE34-EEA70EAFC36D}" type="parTrans" cxnId="{CB3C1948-F624-4A7B-A664-D9EE473E774B}">
      <dgm:prSet/>
      <dgm:spPr/>
      <dgm:t>
        <a:bodyPr/>
        <a:lstStyle/>
        <a:p>
          <a:endParaRPr lang="es-ES"/>
        </a:p>
      </dgm:t>
    </dgm:pt>
    <dgm:pt modelId="{9F7968E9-4C34-4971-AACA-EA9E01F14E10}" type="sibTrans" cxnId="{CB3C1948-F624-4A7B-A664-D9EE473E774B}">
      <dgm:prSet/>
      <dgm:spPr/>
      <dgm:t>
        <a:bodyPr/>
        <a:lstStyle/>
        <a:p>
          <a:endParaRPr lang="es-ES"/>
        </a:p>
      </dgm:t>
    </dgm:pt>
    <dgm:pt modelId="{269DDFF8-FAD7-4070-AFC8-068E5CD3F59A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>
              <a:solidFill>
                <a:schemeClr val="tx1"/>
              </a:solidFill>
              <a:effectLst/>
            </a:rPr>
            <a:t>Angular: Trabajando con </a:t>
          </a:r>
          <a:r>
            <a:rPr lang="es-ES" b="1" dirty="0" smtClean="0">
              <a:solidFill>
                <a:schemeClr val="tx1"/>
              </a:solidFill>
              <a:effectLst/>
            </a:rPr>
            <a:t>componentes y directivas.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389D14DD-70D0-4A3F-8F5D-008393F6BB4F}" type="parTrans" cxnId="{AA663668-0362-4F9E-8CAD-EADF104E8EDF}">
      <dgm:prSet/>
      <dgm:spPr/>
      <dgm:t>
        <a:bodyPr/>
        <a:lstStyle/>
        <a:p>
          <a:endParaRPr lang="es-ES"/>
        </a:p>
      </dgm:t>
    </dgm:pt>
    <dgm:pt modelId="{C985F42D-2A20-4113-A6B5-09F3DE35457B}" type="sibTrans" cxnId="{AA663668-0362-4F9E-8CAD-EADF104E8EDF}">
      <dgm:prSet/>
      <dgm:spPr/>
      <dgm:t>
        <a:bodyPr/>
        <a:lstStyle/>
        <a:p>
          <a:endParaRPr lang="es-ES"/>
        </a:p>
      </dgm:t>
    </dgm:pt>
    <dgm:pt modelId="{D0444AAD-141A-42E7-9D4B-825671F6F87F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>
              <a:solidFill>
                <a:schemeClr val="tx1"/>
              </a:solidFill>
              <a:effectLst/>
            </a:rPr>
            <a:t>Angular: </a:t>
          </a:r>
          <a:r>
            <a:rPr lang="es-ES" b="1" dirty="0" smtClean="0">
              <a:solidFill>
                <a:schemeClr val="tx1"/>
              </a:solidFill>
              <a:effectLst/>
            </a:rPr>
            <a:t>Formularios y pipes.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189791C9-68CE-4C28-BBAF-ACBEDC810633}" type="parTrans" cxnId="{11AD7825-C80D-447E-B243-2A43E39CB8E7}">
      <dgm:prSet/>
      <dgm:spPr/>
      <dgm:t>
        <a:bodyPr/>
        <a:lstStyle/>
        <a:p>
          <a:endParaRPr lang="es-ES"/>
        </a:p>
      </dgm:t>
    </dgm:pt>
    <dgm:pt modelId="{D5DF4593-43AF-473F-A8AD-F9D2AE3DFA21}" type="sibTrans" cxnId="{11AD7825-C80D-447E-B243-2A43E39CB8E7}">
      <dgm:prSet/>
      <dgm:spPr/>
      <dgm:t>
        <a:bodyPr/>
        <a:lstStyle/>
        <a:p>
          <a:endParaRPr lang="es-ES"/>
        </a:p>
      </dgm:t>
    </dgm:pt>
    <dgm:pt modelId="{ECB236CE-74C2-4237-9353-809B0E1E949D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>
              <a:solidFill>
                <a:schemeClr val="tx1"/>
              </a:solidFill>
              <a:effectLst/>
            </a:rPr>
            <a:t>Angular: </a:t>
          </a:r>
          <a:r>
            <a:rPr lang="es-ES" b="1" dirty="0" err="1">
              <a:solidFill>
                <a:schemeClr val="tx1"/>
              </a:solidFill>
              <a:effectLst/>
            </a:rPr>
            <a:t>Frameworks</a:t>
          </a:r>
          <a:r>
            <a:rPr lang="es-ES" b="1" dirty="0">
              <a:solidFill>
                <a:schemeClr val="tx1"/>
              </a:solidFill>
              <a:effectLst/>
            </a:rPr>
            <a:t> UI</a:t>
          </a:r>
        </a:p>
      </dgm:t>
    </dgm:pt>
    <dgm:pt modelId="{E12EF320-7D4F-40C6-B762-8C5C31406978}" type="parTrans" cxnId="{DDD4883A-BF36-41B2-A96C-6F2F8F7543CF}">
      <dgm:prSet/>
      <dgm:spPr/>
      <dgm:t>
        <a:bodyPr/>
        <a:lstStyle/>
        <a:p>
          <a:endParaRPr lang="es-ES"/>
        </a:p>
      </dgm:t>
    </dgm:pt>
    <dgm:pt modelId="{9ABED62F-5141-44B9-B1C9-A4185EF88FC7}" type="sibTrans" cxnId="{DDD4883A-BF36-41B2-A96C-6F2F8F7543CF}">
      <dgm:prSet/>
      <dgm:spPr/>
      <dgm:t>
        <a:bodyPr/>
        <a:lstStyle/>
        <a:p>
          <a:endParaRPr lang="es-ES"/>
        </a:p>
      </dgm:t>
    </dgm:pt>
    <dgm:pt modelId="{26DCFAE8-F42E-450A-B8D8-5B49155D8A40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>
              <a:solidFill>
                <a:schemeClr val="tx1"/>
              </a:solidFill>
              <a:effectLst/>
            </a:rPr>
            <a:t>Angular: Servicios </a:t>
          </a:r>
          <a:r>
            <a:rPr lang="es-ES" b="1" dirty="0" smtClean="0">
              <a:solidFill>
                <a:schemeClr val="tx1"/>
              </a:solidFill>
              <a:effectLst/>
            </a:rPr>
            <a:t>y peticiones.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23A6418D-88D3-421A-A4A3-571D9394FBBC}" type="sibTrans" cxnId="{DCBCA632-C397-4057-86E1-F88B03E53306}">
      <dgm:prSet/>
      <dgm:spPr/>
      <dgm:t>
        <a:bodyPr/>
        <a:lstStyle/>
        <a:p>
          <a:endParaRPr lang="es-ES"/>
        </a:p>
      </dgm:t>
    </dgm:pt>
    <dgm:pt modelId="{CF6E9405-E3B2-4FC7-A9CB-09D177C1DBDB}" type="parTrans" cxnId="{DCBCA632-C397-4057-86E1-F88B03E53306}">
      <dgm:prSet/>
      <dgm:spPr/>
      <dgm:t>
        <a:bodyPr/>
        <a:lstStyle/>
        <a:p>
          <a:endParaRPr lang="es-ES"/>
        </a:p>
      </dgm:t>
    </dgm:pt>
    <dgm:pt modelId="{D566A88D-AF00-4C86-AFD3-8F42C3D168EE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s-ES" b="1" dirty="0" smtClean="0">
              <a:solidFill>
                <a:schemeClr val="tx1"/>
              </a:solidFill>
              <a:effectLst/>
            </a:rPr>
            <a:t>Angular: </a:t>
          </a:r>
          <a:r>
            <a:rPr lang="es-ES" b="1" dirty="0" err="1" smtClean="0">
              <a:solidFill>
                <a:schemeClr val="tx1"/>
              </a:solidFill>
              <a:effectLst/>
            </a:rPr>
            <a:t>Routing</a:t>
          </a:r>
          <a:r>
            <a:rPr lang="es-ES" b="1" dirty="0" smtClean="0">
              <a:solidFill>
                <a:schemeClr val="tx1"/>
              </a:solidFill>
              <a:effectLst/>
            </a:rPr>
            <a:t> y navegación.</a:t>
          </a:r>
          <a:endParaRPr lang="es-ES" b="1" dirty="0">
            <a:solidFill>
              <a:schemeClr val="tx1"/>
            </a:solidFill>
            <a:effectLst/>
          </a:endParaRPr>
        </a:p>
      </dgm:t>
    </dgm:pt>
    <dgm:pt modelId="{BD9B593D-FA54-4FE5-B395-42D4292426A0}" type="parTrans" cxnId="{2B024BAC-6509-4D8D-880B-2E0C6FCEDC12}">
      <dgm:prSet/>
      <dgm:spPr/>
    </dgm:pt>
    <dgm:pt modelId="{30BC47BA-ADDB-4AB9-90E0-EB4A6C111562}" type="sibTrans" cxnId="{2B024BAC-6509-4D8D-880B-2E0C6FCEDC12}">
      <dgm:prSet/>
      <dgm:spPr/>
    </dgm:pt>
    <dgm:pt modelId="{64DC34A7-D9D8-4054-B8EB-119C9947E62B}" type="pres">
      <dgm:prSet presAssocID="{A551803E-DCB0-4417-BF46-5C2C9AA96AC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703346B-A412-4975-A4C4-FB43E71F238C}" type="pres">
      <dgm:prSet presAssocID="{985C32F6-BA1B-47A6-A8D5-09BD2DC03E69}" presName="parentText" presStyleLbl="node1" presStyleIdx="0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EE5FF2D-9EC2-416A-80EE-93FDCCE8B696}" type="pres">
      <dgm:prSet presAssocID="{C0B69872-52FF-4814-8629-DE87A1BCBCC8}" presName="spacer" presStyleCnt="0"/>
      <dgm:spPr/>
    </dgm:pt>
    <dgm:pt modelId="{9A55B369-3FB4-4198-9F0D-1A54D3A55580}" type="pres">
      <dgm:prSet presAssocID="{8807AF56-6BE0-4272-A071-5A651ABDF517}" presName="parentText" presStyleLbl="node1" presStyleIdx="1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BAA01C2-FAC8-417E-95C6-C5963108F088}" type="pres">
      <dgm:prSet presAssocID="{9F7968E9-4C34-4971-AACA-EA9E01F14E10}" presName="spacer" presStyleCnt="0"/>
      <dgm:spPr/>
    </dgm:pt>
    <dgm:pt modelId="{D881C07F-A8A0-4C91-BA48-5F951D275A75}" type="pres">
      <dgm:prSet presAssocID="{269DDFF8-FAD7-4070-AFC8-068E5CD3F59A}" presName="parentText" presStyleLbl="node1" presStyleIdx="2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775C7E-DBCE-43D4-A0C0-E0DD97BBED20}" type="pres">
      <dgm:prSet presAssocID="{C985F42D-2A20-4113-A6B5-09F3DE35457B}" presName="spacer" presStyleCnt="0"/>
      <dgm:spPr/>
    </dgm:pt>
    <dgm:pt modelId="{D63E8EC5-6E1D-4ABA-B0D9-39DB0688C256}" type="pres">
      <dgm:prSet presAssocID="{26DCFAE8-F42E-450A-B8D8-5B49155D8A40}" presName="parentText" presStyleLbl="node1" presStyleIdx="3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EF758C7-1DC4-4C2D-9460-D560037DE4CF}" type="pres">
      <dgm:prSet presAssocID="{23A6418D-88D3-421A-A4A3-571D9394FBBC}" presName="spacer" presStyleCnt="0"/>
      <dgm:spPr/>
    </dgm:pt>
    <dgm:pt modelId="{D1E77AB3-DFAD-4F90-88DC-A8D01DC119DF}" type="pres">
      <dgm:prSet presAssocID="{D0444AAD-141A-42E7-9D4B-825671F6F87F}" presName="parentText" presStyleLbl="node1" presStyleIdx="4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E351C1A-E98E-4BE2-BB45-FBD57644384A}" type="pres">
      <dgm:prSet presAssocID="{D5DF4593-43AF-473F-A8AD-F9D2AE3DFA21}" presName="spacer" presStyleCnt="0"/>
      <dgm:spPr/>
    </dgm:pt>
    <dgm:pt modelId="{01BA4176-A552-497D-93B4-572EAD8AC490}" type="pres">
      <dgm:prSet presAssocID="{D566A88D-AF00-4C86-AFD3-8F42C3D168EE}" presName="parentText" presStyleLbl="node1" presStyleIdx="5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032A82A-5274-4D38-BD02-2B35D02DB1A9}" type="pres">
      <dgm:prSet presAssocID="{30BC47BA-ADDB-4AB9-90E0-EB4A6C111562}" presName="spacer" presStyleCnt="0"/>
      <dgm:spPr/>
    </dgm:pt>
    <dgm:pt modelId="{BA4CEB48-0E52-4086-B04B-039BCB3D0971}" type="pres">
      <dgm:prSet presAssocID="{ECB236CE-74C2-4237-9353-809B0E1E949D}" presName="parentText" presStyleLbl="node1" presStyleIdx="6" presStyleCnt="7" custLinFactNeighborX="780" custLinFactNeighborY="18900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CBCA632-C397-4057-86E1-F88B03E53306}" srcId="{A551803E-DCB0-4417-BF46-5C2C9AA96ACB}" destId="{26DCFAE8-F42E-450A-B8D8-5B49155D8A40}" srcOrd="3" destOrd="0" parTransId="{CF6E9405-E3B2-4FC7-A9CB-09D177C1DBDB}" sibTransId="{23A6418D-88D3-421A-A4A3-571D9394FBBC}"/>
    <dgm:cxn modelId="{BC807C27-62A7-465A-AA48-1DCD3838B177}" type="presOf" srcId="{A551803E-DCB0-4417-BF46-5C2C9AA96ACB}" destId="{64DC34A7-D9D8-4054-B8EB-119C9947E62B}" srcOrd="0" destOrd="0" presId="urn:microsoft.com/office/officeart/2005/8/layout/vList2"/>
    <dgm:cxn modelId="{11AD7825-C80D-447E-B243-2A43E39CB8E7}" srcId="{A551803E-DCB0-4417-BF46-5C2C9AA96ACB}" destId="{D0444AAD-141A-42E7-9D4B-825671F6F87F}" srcOrd="4" destOrd="0" parTransId="{189791C9-68CE-4C28-BBAF-ACBEDC810633}" sibTransId="{D5DF4593-43AF-473F-A8AD-F9D2AE3DFA21}"/>
    <dgm:cxn modelId="{C03FF94C-8DB1-4E56-9336-7579D1ABAFAB}" type="presOf" srcId="{ECB236CE-74C2-4237-9353-809B0E1E949D}" destId="{BA4CEB48-0E52-4086-B04B-039BCB3D0971}" srcOrd="0" destOrd="0" presId="urn:microsoft.com/office/officeart/2005/8/layout/vList2"/>
    <dgm:cxn modelId="{CB3C1948-F624-4A7B-A664-D9EE473E774B}" srcId="{A551803E-DCB0-4417-BF46-5C2C9AA96ACB}" destId="{8807AF56-6BE0-4272-A071-5A651ABDF517}" srcOrd="1" destOrd="0" parTransId="{4ADFC6E5-37B7-41C6-AE34-EEA70EAFC36D}" sibTransId="{9F7968E9-4C34-4971-AACA-EA9E01F14E10}"/>
    <dgm:cxn modelId="{2D3EAAD2-0DBA-4A9B-B7FC-C7997B82CAB7}" type="presOf" srcId="{985C32F6-BA1B-47A6-A8D5-09BD2DC03E69}" destId="{9703346B-A412-4975-A4C4-FB43E71F238C}" srcOrd="0" destOrd="0" presId="urn:microsoft.com/office/officeart/2005/8/layout/vList2"/>
    <dgm:cxn modelId="{4A684448-55AC-4637-85BF-15036C4CC319}" type="presOf" srcId="{D566A88D-AF00-4C86-AFD3-8F42C3D168EE}" destId="{01BA4176-A552-497D-93B4-572EAD8AC490}" srcOrd="0" destOrd="0" presId="urn:microsoft.com/office/officeart/2005/8/layout/vList2"/>
    <dgm:cxn modelId="{DDD4883A-BF36-41B2-A96C-6F2F8F7543CF}" srcId="{A551803E-DCB0-4417-BF46-5C2C9AA96ACB}" destId="{ECB236CE-74C2-4237-9353-809B0E1E949D}" srcOrd="6" destOrd="0" parTransId="{E12EF320-7D4F-40C6-B762-8C5C31406978}" sibTransId="{9ABED62F-5141-44B9-B1C9-A4185EF88FC7}"/>
    <dgm:cxn modelId="{5C0A79C0-AB80-4378-9301-349C221C9642}" type="presOf" srcId="{8807AF56-6BE0-4272-A071-5A651ABDF517}" destId="{9A55B369-3FB4-4198-9F0D-1A54D3A55580}" srcOrd="0" destOrd="0" presId="urn:microsoft.com/office/officeart/2005/8/layout/vList2"/>
    <dgm:cxn modelId="{DDE05174-F09C-4598-B1C1-275237DDEDD5}" type="presOf" srcId="{26DCFAE8-F42E-450A-B8D8-5B49155D8A40}" destId="{D63E8EC5-6E1D-4ABA-B0D9-39DB0688C256}" srcOrd="0" destOrd="0" presId="urn:microsoft.com/office/officeart/2005/8/layout/vList2"/>
    <dgm:cxn modelId="{2B024BAC-6509-4D8D-880B-2E0C6FCEDC12}" srcId="{A551803E-DCB0-4417-BF46-5C2C9AA96ACB}" destId="{D566A88D-AF00-4C86-AFD3-8F42C3D168EE}" srcOrd="5" destOrd="0" parTransId="{BD9B593D-FA54-4FE5-B395-42D4292426A0}" sibTransId="{30BC47BA-ADDB-4AB9-90E0-EB4A6C111562}"/>
    <dgm:cxn modelId="{AA663668-0362-4F9E-8CAD-EADF104E8EDF}" srcId="{A551803E-DCB0-4417-BF46-5C2C9AA96ACB}" destId="{269DDFF8-FAD7-4070-AFC8-068E5CD3F59A}" srcOrd="2" destOrd="0" parTransId="{389D14DD-70D0-4A3F-8F5D-008393F6BB4F}" sibTransId="{C985F42D-2A20-4113-A6B5-09F3DE35457B}"/>
    <dgm:cxn modelId="{FEF021E3-C412-4E09-87D9-56CC5DD7B2DA}" srcId="{A551803E-DCB0-4417-BF46-5C2C9AA96ACB}" destId="{985C32F6-BA1B-47A6-A8D5-09BD2DC03E69}" srcOrd="0" destOrd="0" parTransId="{93A3EC25-F0E6-427C-A76C-1C54D5F56901}" sibTransId="{C0B69872-52FF-4814-8629-DE87A1BCBCC8}"/>
    <dgm:cxn modelId="{72A56189-D353-42E2-9AD7-666BFAA5DFDD}" type="presOf" srcId="{D0444AAD-141A-42E7-9D4B-825671F6F87F}" destId="{D1E77AB3-DFAD-4F90-88DC-A8D01DC119DF}" srcOrd="0" destOrd="0" presId="urn:microsoft.com/office/officeart/2005/8/layout/vList2"/>
    <dgm:cxn modelId="{240D4CFB-C565-4CD3-883E-EDA1348047B8}" type="presOf" srcId="{269DDFF8-FAD7-4070-AFC8-068E5CD3F59A}" destId="{D881C07F-A8A0-4C91-BA48-5F951D275A75}" srcOrd="0" destOrd="0" presId="urn:microsoft.com/office/officeart/2005/8/layout/vList2"/>
    <dgm:cxn modelId="{FEAC4F22-97A3-4586-8B0C-78BAE02BF97F}" type="presParOf" srcId="{64DC34A7-D9D8-4054-B8EB-119C9947E62B}" destId="{9703346B-A412-4975-A4C4-FB43E71F238C}" srcOrd="0" destOrd="0" presId="urn:microsoft.com/office/officeart/2005/8/layout/vList2"/>
    <dgm:cxn modelId="{8B4DDA4C-7569-43C4-B329-F9550B37B4D9}" type="presParOf" srcId="{64DC34A7-D9D8-4054-B8EB-119C9947E62B}" destId="{7EE5FF2D-9EC2-416A-80EE-93FDCCE8B696}" srcOrd="1" destOrd="0" presId="urn:microsoft.com/office/officeart/2005/8/layout/vList2"/>
    <dgm:cxn modelId="{720CC80C-03D3-40DB-B2CF-DCA0B4940CEE}" type="presParOf" srcId="{64DC34A7-D9D8-4054-B8EB-119C9947E62B}" destId="{9A55B369-3FB4-4198-9F0D-1A54D3A55580}" srcOrd="2" destOrd="0" presId="urn:microsoft.com/office/officeart/2005/8/layout/vList2"/>
    <dgm:cxn modelId="{69EC059D-D228-440C-BF47-37646F048A18}" type="presParOf" srcId="{64DC34A7-D9D8-4054-B8EB-119C9947E62B}" destId="{3BAA01C2-FAC8-417E-95C6-C5963108F088}" srcOrd="3" destOrd="0" presId="urn:microsoft.com/office/officeart/2005/8/layout/vList2"/>
    <dgm:cxn modelId="{97E23401-E224-4580-833D-36FDC6AB583D}" type="presParOf" srcId="{64DC34A7-D9D8-4054-B8EB-119C9947E62B}" destId="{D881C07F-A8A0-4C91-BA48-5F951D275A75}" srcOrd="4" destOrd="0" presId="urn:microsoft.com/office/officeart/2005/8/layout/vList2"/>
    <dgm:cxn modelId="{30EF3CD6-BFA7-45C2-9D4A-1A2DEE5E52DF}" type="presParOf" srcId="{64DC34A7-D9D8-4054-B8EB-119C9947E62B}" destId="{8C775C7E-DBCE-43D4-A0C0-E0DD97BBED20}" srcOrd="5" destOrd="0" presId="urn:microsoft.com/office/officeart/2005/8/layout/vList2"/>
    <dgm:cxn modelId="{BD843DDE-F8AB-467B-8633-7D1C1FB88061}" type="presParOf" srcId="{64DC34A7-D9D8-4054-B8EB-119C9947E62B}" destId="{D63E8EC5-6E1D-4ABA-B0D9-39DB0688C256}" srcOrd="6" destOrd="0" presId="urn:microsoft.com/office/officeart/2005/8/layout/vList2"/>
    <dgm:cxn modelId="{9D66A1DF-3571-4D23-8F47-D1E8202E4B78}" type="presParOf" srcId="{64DC34A7-D9D8-4054-B8EB-119C9947E62B}" destId="{6EF758C7-1DC4-4C2D-9460-D560037DE4CF}" srcOrd="7" destOrd="0" presId="urn:microsoft.com/office/officeart/2005/8/layout/vList2"/>
    <dgm:cxn modelId="{EF2920D1-3273-4616-8371-53E670212F21}" type="presParOf" srcId="{64DC34A7-D9D8-4054-B8EB-119C9947E62B}" destId="{D1E77AB3-DFAD-4F90-88DC-A8D01DC119DF}" srcOrd="8" destOrd="0" presId="urn:microsoft.com/office/officeart/2005/8/layout/vList2"/>
    <dgm:cxn modelId="{C6521647-3352-4A1E-8F82-A136E270B838}" type="presParOf" srcId="{64DC34A7-D9D8-4054-B8EB-119C9947E62B}" destId="{CE351C1A-E98E-4BE2-BB45-FBD57644384A}" srcOrd="9" destOrd="0" presId="urn:microsoft.com/office/officeart/2005/8/layout/vList2"/>
    <dgm:cxn modelId="{97022DD4-EEF7-425E-A363-6B4F76C53337}" type="presParOf" srcId="{64DC34A7-D9D8-4054-B8EB-119C9947E62B}" destId="{01BA4176-A552-497D-93B4-572EAD8AC490}" srcOrd="10" destOrd="0" presId="urn:microsoft.com/office/officeart/2005/8/layout/vList2"/>
    <dgm:cxn modelId="{4753F712-D7B9-488E-A934-ED2D6924F45E}" type="presParOf" srcId="{64DC34A7-D9D8-4054-B8EB-119C9947E62B}" destId="{6032A82A-5274-4D38-BD02-2B35D02DB1A9}" srcOrd="11" destOrd="0" presId="urn:microsoft.com/office/officeart/2005/8/layout/vList2"/>
    <dgm:cxn modelId="{4EC864BF-A5DE-4FFB-A237-2B55C674DDC7}" type="presParOf" srcId="{64DC34A7-D9D8-4054-B8EB-119C9947E62B}" destId="{BA4CEB48-0E52-4086-B04B-039BCB3D097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CAD930-D7C1-4171-9EA3-A7F82C8734A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BFCEAED-E10C-4BBC-BA6A-C00F9188A6F5}">
      <dgm:prSet phldrT="[Texto]"/>
      <dgm:spPr/>
      <dgm:t>
        <a:bodyPr/>
        <a:lstStyle/>
        <a:p>
          <a:r>
            <a:rPr lang="es-ES"/>
            <a:t>Nos suscribimos al Observable</a:t>
          </a:r>
        </a:p>
      </dgm:t>
    </dgm:pt>
    <dgm:pt modelId="{04F1C477-BCF5-4D96-82DD-1F9076DA0A25}" type="parTrans" cxnId="{79BE36A3-C6A1-4CE8-A568-2C4D2B171BDC}">
      <dgm:prSet/>
      <dgm:spPr/>
      <dgm:t>
        <a:bodyPr/>
        <a:lstStyle/>
        <a:p>
          <a:endParaRPr lang="es-ES"/>
        </a:p>
      </dgm:t>
    </dgm:pt>
    <dgm:pt modelId="{B30004CF-C44A-42FD-BC8E-57A00CA61A66}" type="sibTrans" cxnId="{79BE36A3-C6A1-4CE8-A568-2C4D2B171BDC}">
      <dgm:prSet/>
      <dgm:spPr/>
      <dgm:t>
        <a:bodyPr/>
        <a:lstStyle/>
        <a:p>
          <a:endParaRPr lang="es-ES"/>
        </a:p>
      </dgm:t>
    </dgm:pt>
    <dgm:pt modelId="{BF0FB2D4-B83F-4A39-BE11-DED46B89D3C4}">
      <dgm:prSet phldrT="[Texto]"/>
      <dgm:spPr/>
      <dgm:t>
        <a:bodyPr/>
        <a:lstStyle/>
        <a:p>
          <a:r>
            <a:rPr lang="es-ES"/>
            <a:t>Llamada a </a:t>
          </a:r>
          <a:r>
            <a:rPr lang="es-ES" err="1"/>
            <a:t>httpClient</a:t>
          </a:r>
          <a:endParaRPr lang="es-ES"/>
        </a:p>
      </dgm:t>
    </dgm:pt>
    <dgm:pt modelId="{33455B91-0F54-4678-BDB3-3276C4AA2B13}" type="parTrans" cxnId="{12D0C3CE-F3B0-4F7E-891A-FEBE8A878E0C}">
      <dgm:prSet/>
      <dgm:spPr/>
      <dgm:t>
        <a:bodyPr/>
        <a:lstStyle/>
        <a:p>
          <a:endParaRPr lang="es-ES"/>
        </a:p>
      </dgm:t>
    </dgm:pt>
    <dgm:pt modelId="{DC58C6B4-BB89-4FFE-B51D-D3DBE7A1263F}" type="sibTrans" cxnId="{12D0C3CE-F3B0-4F7E-891A-FEBE8A878E0C}">
      <dgm:prSet/>
      <dgm:spPr/>
      <dgm:t>
        <a:bodyPr/>
        <a:lstStyle/>
        <a:p>
          <a:endParaRPr lang="es-ES"/>
        </a:p>
      </dgm:t>
    </dgm:pt>
    <dgm:pt modelId="{91157398-EDB6-43EF-984A-EEFB869BCCD5}">
      <dgm:prSet phldrT="[Texto]"/>
      <dgm:spPr/>
      <dgm:t>
        <a:bodyPr/>
        <a:lstStyle/>
        <a:p>
          <a:r>
            <a:rPr lang="es-ES" err="1"/>
            <a:t>httpClient</a:t>
          </a:r>
          <a:r>
            <a:rPr lang="es-ES"/>
            <a:t> realiza petición a </a:t>
          </a:r>
          <a:r>
            <a:rPr lang="es-ES" err="1"/>
            <a:t>Backend</a:t>
          </a:r>
          <a:endParaRPr lang="es-ES"/>
        </a:p>
      </dgm:t>
    </dgm:pt>
    <dgm:pt modelId="{6A27CA59-2663-43F8-B254-914A3DE73961}" type="parTrans" cxnId="{0D1244F0-7B00-4BF6-A02C-8E0AFB9E7D7B}">
      <dgm:prSet/>
      <dgm:spPr/>
      <dgm:t>
        <a:bodyPr/>
        <a:lstStyle/>
        <a:p>
          <a:endParaRPr lang="es-ES"/>
        </a:p>
      </dgm:t>
    </dgm:pt>
    <dgm:pt modelId="{8DAF827A-F500-4CB0-8113-D544B91FE422}" type="sibTrans" cxnId="{0D1244F0-7B00-4BF6-A02C-8E0AFB9E7D7B}">
      <dgm:prSet/>
      <dgm:spPr/>
      <dgm:t>
        <a:bodyPr/>
        <a:lstStyle/>
        <a:p>
          <a:endParaRPr lang="es-ES"/>
        </a:p>
      </dgm:t>
    </dgm:pt>
    <dgm:pt modelId="{517CBCBB-E025-42F7-890E-AB88FAEB4B6E}">
      <dgm:prSet phldrT="[Texto]"/>
      <dgm:spPr/>
      <dgm:t>
        <a:bodyPr/>
        <a:lstStyle/>
        <a:p>
          <a:r>
            <a:rPr lang="es-ES"/>
            <a:t>Cargamos el servicio</a:t>
          </a:r>
        </a:p>
      </dgm:t>
    </dgm:pt>
    <dgm:pt modelId="{6BF618E7-42E5-460B-899E-D1C9B23945EE}" type="parTrans" cxnId="{C51D6B4F-8CB8-4919-8D86-4A8DD8BE47F2}">
      <dgm:prSet/>
      <dgm:spPr/>
      <dgm:t>
        <a:bodyPr/>
        <a:lstStyle/>
        <a:p>
          <a:endParaRPr lang="es-ES"/>
        </a:p>
      </dgm:t>
    </dgm:pt>
    <dgm:pt modelId="{CC1D5090-CE72-4EE7-80D5-91ABDF76A7AC}" type="sibTrans" cxnId="{C51D6B4F-8CB8-4919-8D86-4A8DD8BE47F2}">
      <dgm:prSet/>
      <dgm:spPr/>
      <dgm:t>
        <a:bodyPr/>
        <a:lstStyle/>
        <a:p>
          <a:endParaRPr lang="es-ES"/>
        </a:p>
      </dgm:t>
    </dgm:pt>
    <dgm:pt modelId="{63197BF5-90D8-4C0D-AC97-4431BC618738}">
      <dgm:prSet phldrT="[Texto]"/>
      <dgm:spPr/>
      <dgm:t>
        <a:bodyPr/>
        <a:lstStyle/>
        <a:p>
          <a:r>
            <a:rPr lang="es-ES"/>
            <a:t>Invocamos método: </a:t>
          </a:r>
          <a:r>
            <a:rPr lang="es-ES" err="1"/>
            <a:t>get</a:t>
          </a:r>
          <a:r>
            <a:rPr lang="es-ES"/>
            <a:t>, post, …</a:t>
          </a:r>
        </a:p>
      </dgm:t>
    </dgm:pt>
    <dgm:pt modelId="{237DAA19-34D5-444E-86AA-1F416666D8DB}" type="parTrans" cxnId="{E03C0882-4379-47E7-9CF2-8C73BCD5DAC1}">
      <dgm:prSet/>
      <dgm:spPr/>
      <dgm:t>
        <a:bodyPr/>
        <a:lstStyle/>
        <a:p>
          <a:endParaRPr lang="es-ES"/>
        </a:p>
      </dgm:t>
    </dgm:pt>
    <dgm:pt modelId="{1BF5D4EC-98CF-4350-9FF4-B916717D945D}" type="sibTrans" cxnId="{E03C0882-4379-47E7-9CF2-8C73BCD5DAC1}">
      <dgm:prSet/>
      <dgm:spPr/>
      <dgm:t>
        <a:bodyPr/>
        <a:lstStyle/>
        <a:p>
          <a:endParaRPr lang="es-ES"/>
        </a:p>
      </dgm:t>
    </dgm:pt>
    <dgm:pt modelId="{87154C0D-66DC-42F9-ABBA-6A3879694DB4}">
      <dgm:prSet phldrT="[Texto]"/>
      <dgm:spPr/>
      <dgm:t>
        <a:bodyPr/>
        <a:lstStyle/>
        <a:p>
          <a:r>
            <a:rPr lang="es-ES"/>
            <a:t>Devuelve un Observable</a:t>
          </a:r>
        </a:p>
      </dgm:t>
    </dgm:pt>
    <dgm:pt modelId="{A6691688-5334-46D4-A723-27B9FD5A6C64}" type="parTrans" cxnId="{6DA2871B-5D1F-409E-AE37-A52E36C04253}">
      <dgm:prSet/>
      <dgm:spPr/>
      <dgm:t>
        <a:bodyPr/>
        <a:lstStyle/>
        <a:p>
          <a:endParaRPr lang="es-ES"/>
        </a:p>
      </dgm:t>
    </dgm:pt>
    <dgm:pt modelId="{ECEF13EB-F90C-4F20-A9AC-3A5E5A4DBBED}" type="sibTrans" cxnId="{6DA2871B-5D1F-409E-AE37-A52E36C04253}">
      <dgm:prSet/>
      <dgm:spPr/>
      <dgm:t>
        <a:bodyPr/>
        <a:lstStyle/>
        <a:p>
          <a:endParaRPr lang="es-ES"/>
        </a:p>
      </dgm:t>
    </dgm:pt>
    <dgm:pt modelId="{ABB8696D-AD0A-40D0-A416-4B13678649F9}">
      <dgm:prSet phldrT="[Texto]"/>
      <dgm:spPr/>
      <dgm:t>
        <a:bodyPr/>
        <a:lstStyle/>
        <a:p>
          <a:r>
            <a:rPr lang="es-ES"/>
            <a:t>Cuando tengamos respuesta, se ejecutará la función indicada insertando la respuesta</a:t>
          </a:r>
        </a:p>
      </dgm:t>
    </dgm:pt>
    <dgm:pt modelId="{8861D0A2-48F7-4AD0-8BA3-7C0FB34C19BD}" type="parTrans" cxnId="{170432C0-1B71-47C1-8A0F-9031D4CE73B0}">
      <dgm:prSet/>
      <dgm:spPr/>
      <dgm:t>
        <a:bodyPr/>
        <a:lstStyle/>
        <a:p>
          <a:endParaRPr lang="es-ES"/>
        </a:p>
      </dgm:t>
    </dgm:pt>
    <dgm:pt modelId="{A01B56DF-F74D-4DE9-93CA-3532AA475596}" type="sibTrans" cxnId="{170432C0-1B71-47C1-8A0F-9031D4CE73B0}">
      <dgm:prSet/>
      <dgm:spPr/>
      <dgm:t>
        <a:bodyPr/>
        <a:lstStyle/>
        <a:p>
          <a:endParaRPr lang="es-ES"/>
        </a:p>
      </dgm:t>
    </dgm:pt>
    <dgm:pt modelId="{3B337839-5F98-40AE-86F9-4E69B5D4B096}">
      <dgm:prSet phldrT="[Texto]"/>
      <dgm:spPr/>
      <dgm:t>
        <a:bodyPr/>
        <a:lstStyle/>
        <a:p>
          <a:r>
            <a:rPr lang="es-ES"/>
            <a:t>Si hay error se ejecuta el método de error</a:t>
          </a:r>
        </a:p>
      </dgm:t>
    </dgm:pt>
    <dgm:pt modelId="{4E58023F-5AD1-4B88-8E21-02A18F022B9E}" type="parTrans" cxnId="{C01EE127-CFE0-40E5-BDE8-3EEDA6FA4FC2}">
      <dgm:prSet/>
      <dgm:spPr/>
      <dgm:t>
        <a:bodyPr/>
        <a:lstStyle/>
        <a:p>
          <a:endParaRPr lang="es-ES"/>
        </a:p>
      </dgm:t>
    </dgm:pt>
    <dgm:pt modelId="{044EC715-2EB7-412D-80EB-EE83CF369340}" type="sibTrans" cxnId="{C01EE127-CFE0-40E5-BDE8-3EEDA6FA4FC2}">
      <dgm:prSet/>
      <dgm:spPr/>
      <dgm:t>
        <a:bodyPr/>
        <a:lstStyle/>
        <a:p>
          <a:endParaRPr lang="es-ES"/>
        </a:p>
      </dgm:t>
    </dgm:pt>
    <dgm:pt modelId="{A7CF15AE-E860-41B1-9C75-9931FD19AEEC}" type="pres">
      <dgm:prSet presAssocID="{B8CAD930-D7C1-4171-9EA3-A7F82C8734A2}" presName="Name0" presStyleCnt="0">
        <dgm:presLayoutVars>
          <dgm:dir/>
          <dgm:resizeHandles val="exact"/>
        </dgm:presLayoutVars>
      </dgm:prSet>
      <dgm:spPr/>
    </dgm:pt>
    <dgm:pt modelId="{B29CE91D-6B6C-46DB-880C-99CB8ACFD47E}" type="pres">
      <dgm:prSet presAssocID="{BF0FB2D4-B83F-4A39-BE11-DED46B89D3C4}" presName="node" presStyleLbl="node1" presStyleIdx="0" presStyleCnt="3" custScaleY="69257" custLinFactNeighborX="-836" custLinFactNeighborY="-7883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73B275B-FEE6-4623-A7A1-BF37EB96F105}" type="pres">
      <dgm:prSet presAssocID="{DC58C6B4-BB89-4FFE-B51D-D3DBE7A1263F}" presName="sibTrans" presStyleLbl="sibTrans2D1" presStyleIdx="0" presStyleCnt="2"/>
      <dgm:spPr/>
      <dgm:t>
        <a:bodyPr/>
        <a:lstStyle/>
        <a:p>
          <a:endParaRPr lang="es-ES"/>
        </a:p>
      </dgm:t>
    </dgm:pt>
    <dgm:pt modelId="{BD9CDFC1-0029-44E2-A90A-6C65EDC29811}" type="pres">
      <dgm:prSet presAssocID="{DC58C6B4-BB89-4FFE-B51D-D3DBE7A1263F}" presName="connectorText" presStyleLbl="sibTrans2D1" presStyleIdx="0" presStyleCnt="2"/>
      <dgm:spPr/>
      <dgm:t>
        <a:bodyPr/>
        <a:lstStyle/>
        <a:p>
          <a:endParaRPr lang="es-ES"/>
        </a:p>
      </dgm:t>
    </dgm:pt>
    <dgm:pt modelId="{5697447C-F778-4BE1-BDD2-C0168D254289}" type="pres">
      <dgm:prSet presAssocID="{91157398-EDB6-43EF-984A-EEFB869BCCD5}" presName="node" presStyleLbl="node1" presStyleIdx="1" presStyleCnt="3" custScaleY="65248" custLinFactNeighborX="-2979" custLinFactNeighborY="-7883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87ABA92-6829-4E1A-98C0-14105A48C358}" type="pres">
      <dgm:prSet presAssocID="{8DAF827A-F500-4CB0-8113-D544B91FE422}" presName="sibTrans" presStyleLbl="sibTrans2D1" presStyleIdx="1" presStyleCnt="2" custAng="21302477" custLinFactNeighborY="-29373"/>
      <dgm:spPr/>
      <dgm:t>
        <a:bodyPr/>
        <a:lstStyle/>
        <a:p>
          <a:endParaRPr lang="es-ES"/>
        </a:p>
      </dgm:t>
    </dgm:pt>
    <dgm:pt modelId="{16642BA7-F9BB-4DC7-91AB-7AF6FCABD8F1}" type="pres">
      <dgm:prSet presAssocID="{8DAF827A-F500-4CB0-8113-D544B91FE422}" presName="connectorText" presStyleLbl="sibTrans2D1" presStyleIdx="1" presStyleCnt="2"/>
      <dgm:spPr/>
      <dgm:t>
        <a:bodyPr/>
        <a:lstStyle/>
        <a:p>
          <a:endParaRPr lang="es-ES"/>
        </a:p>
      </dgm:t>
    </dgm:pt>
    <dgm:pt modelId="{DF097545-99A3-4EB1-AB1C-F442913E7887}" type="pres">
      <dgm:prSet presAssocID="{3BFCEAED-E10C-4BBC-BA6A-C00F9188A6F5}" presName="node" presStyleLbl="node1" presStyleIdx="2" presStyleCnt="3" custLinFactNeighborX="-7263" custLinFactNeighborY="-6193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12D0C3CE-F3B0-4F7E-891A-FEBE8A878E0C}" srcId="{B8CAD930-D7C1-4171-9EA3-A7F82C8734A2}" destId="{BF0FB2D4-B83F-4A39-BE11-DED46B89D3C4}" srcOrd="0" destOrd="0" parTransId="{33455B91-0F54-4678-BDB3-3276C4AA2B13}" sibTransId="{DC58C6B4-BB89-4FFE-B51D-D3DBE7A1263F}"/>
    <dgm:cxn modelId="{6DFA9211-CC13-4F79-91A5-1BAEBF0D39B0}" type="presOf" srcId="{B8CAD930-D7C1-4171-9EA3-A7F82C8734A2}" destId="{A7CF15AE-E860-41B1-9C75-9931FD19AEEC}" srcOrd="0" destOrd="0" presId="urn:microsoft.com/office/officeart/2005/8/layout/process1"/>
    <dgm:cxn modelId="{81879C9C-C803-466E-95D2-18FDCFA15A02}" type="presOf" srcId="{DC58C6B4-BB89-4FFE-B51D-D3DBE7A1263F}" destId="{D73B275B-FEE6-4623-A7A1-BF37EB96F105}" srcOrd="0" destOrd="0" presId="urn:microsoft.com/office/officeart/2005/8/layout/process1"/>
    <dgm:cxn modelId="{0B7781FD-8BF0-4784-A3B9-C5F4B6A83FC6}" type="presOf" srcId="{3B337839-5F98-40AE-86F9-4E69B5D4B096}" destId="{DF097545-99A3-4EB1-AB1C-F442913E7887}" srcOrd="0" destOrd="2" presId="urn:microsoft.com/office/officeart/2005/8/layout/process1"/>
    <dgm:cxn modelId="{C01EE127-CFE0-40E5-BDE8-3EEDA6FA4FC2}" srcId="{3BFCEAED-E10C-4BBC-BA6A-C00F9188A6F5}" destId="{3B337839-5F98-40AE-86F9-4E69B5D4B096}" srcOrd="1" destOrd="0" parTransId="{4E58023F-5AD1-4B88-8E21-02A18F022B9E}" sibTransId="{044EC715-2EB7-412D-80EB-EE83CF369340}"/>
    <dgm:cxn modelId="{82B6A583-1D7F-4FF9-995A-2B2444B1043A}" type="presOf" srcId="{BF0FB2D4-B83F-4A39-BE11-DED46B89D3C4}" destId="{B29CE91D-6B6C-46DB-880C-99CB8ACFD47E}" srcOrd="0" destOrd="0" presId="urn:microsoft.com/office/officeart/2005/8/layout/process1"/>
    <dgm:cxn modelId="{5FB9492F-B64B-4E91-BCC9-355453A43468}" type="presOf" srcId="{63197BF5-90D8-4C0D-AC97-4431BC618738}" destId="{B29CE91D-6B6C-46DB-880C-99CB8ACFD47E}" srcOrd="0" destOrd="2" presId="urn:microsoft.com/office/officeart/2005/8/layout/process1"/>
    <dgm:cxn modelId="{88F22806-2CFE-4021-83C6-458B45F6DFDC}" type="presOf" srcId="{8DAF827A-F500-4CB0-8113-D544B91FE422}" destId="{16642BA7-F9BB-4DC7-91AB-7AF6FCABD8F1}" srcOrd="1" destOrd="0" presId="urn:microsoft.com/office/officeart/2005/8/layout/process1"/>
    <dgm:cxn modelId="{6667F487-2747-48CD-8291-7A4143829231}" type="presOf" srcId="{ABB8696D-AD0A-40D0-A416-4B13678649F9}" destId="{DF097545-99A3-4EB1-AB1C-F442913E7887}" srcOrd="0" destOrd="1" presId="urn:microsoft.com/office/officeart/2005/8/layout/process1"/>
    <dgm:cxn modelId="{641D387A-2966-4942-AA34-3CB4C3BEC8B9}" type="presOf" srcId="{DC58C6B4-BB89-4FFE-B51D-D3DBE7A1263F}" destId="{BD9CDFC1-0029-44E2-A90A-6C65EDC29811}" srcOrd="1" destOrd="0" presId="urn:microsoft.com/office/officeart/2005/8/layout/process1"/>
    <dgm:cxn modelId="{0D1244F0-7B00-4BF6-A02C-8E0AFB9E7D7B}" srcId="{B8CAD930-D7C1-4171-9EA3-A7F82C8734A2}" destId="{91157398-EDB6-43EF-984A-EEFB869BCCD5}" srcOrd="1" destOrd="0" parTransId="{6A27CA59-2663-43F8-B254-914A3DE73961}" sibTransId="{8DAF827A-F500-4CB0-8113-D544B91FE422}"/>
    <dgm:cxn modelId="{97A33838-F6F4-4DB1-8CE0-406192596991}" type="presOf" srcId="{517CBCBB-E025-42F7-890E-AB88FAEB4B6E}" destId="{B29CE91D-6B6C-46DB-880C-99CB8ACFD47E}" srcOrd="0" destOrd="1" presId="urn:microsoft.com/office/officeart/2005/8/layout/process1"/>
    <dgm:cxn modelId="{D398EC28-917D-41E2-8C75-177E8BA9307F}" type="presOf" srcId="{91157398-EDB6-43EF-984A-EEFB869BCCD5}" destId="{5697447C-F778-4BE1-BDD2-C0168D254289}" srcOrd="0" destOrd="0" presId="urn:microsoft.com/office/officeart/2005/8/layout/process1"/>
    <dgm:cxn modelId="{E03C0882-4379-47E7-9CF2-8C73BCD5DAC1}" srcId="{BF0FB2D4-B83F-4A39-BE11-DED46B89D3C4}" destId="{63197BF5-90D8-4C0D-AC97-4431BC618738}" srcOrd="1" destOrd="0" parTransId="{237DAA19-34D5-444E-86AA-1F416666D8DB}" sibTransId="{1BF5D4EC-98CF-4350-9FF4-B916717D945D}"/>
    <dgm:cxn modelId="{74D0D0CA-5932-47E6-AF31-BEE82E56702E}" type="presOf" srcId="{3BFCEAED-E10C-4BBC-BA6A-C00F9188A6F5}" destId="{DF097545-99A3-4EB1-AB1C-F442913E7887}" srcOrd="0" destOrd="0" presId="urn:microsoft.com/office/officeart/2005/8/layout/process1"/>
    <dgm:cxn modelId="{92218B75-D88F-49D1-B490-C20965B68AD7}" type="presOf" srcId="{8DAF827A-F500-4CB0-8113-D544B91FE422}" destId="{787ABA92-6829-4E1A-98C0-14105A48C358}" srcOrd="0" destOrd="0" presId="urn:microsoft.com/office/officeart/2005/8/layout/process1"/>
    <dgm:cxn modelId="{170432C0-1B71-47C1-8A0F-9031D4CE73B0}" srcId="{3BFCEAED-E10C-4BBC-BA6A-C00F9188A6F5}" destId="{ABB8696D-AD0A-40D0-A416-4B13678649F9}" srcOrd="0" destOrd="0" parTransId="{8861D0A2-48F7-4AD0-8BA3-7C0FB34C19BD}" sibTransId="{A01B56DF-F74D-4DE9-93CA-3532AA475596}"/>
    <dgm:cxn modelId="{6DA2871B-5D1F-409E-AE37-A52E36C04253}" srcId="{91157398-EDB6-43EF-984A-EEFB869BCCD5}" destId="{87154C0D-66DC-42F9-ABBA-6A3879694DB4}" srcOrd="0" destOrd="0" parTransId="{A6691688-5334-46D4-A723-27B9FD5A6C64}" sibTransId="{ECEF13EB-F90C-4F20-A9AC-3A5E5A4DBBED}"/>
    <dgm:cxn modelId="{C51D6B4F-8CB8-4919-8D86-4A8DD8BE47F2}" srcId="{BF0FB2D4-B83F-4A39-BE11-DED46B89D3C4}" destId="{517CBCBB-E025-42F7-890E-AB88FAEB4B6E}" srcOrd="0" destOrd="0" parTransId="{6BF618E7-42E5-460B-899E-D1C9B23945EE}" sibTransId="{CC1D5090-CE72-4EE7-80D5-91ABDF76A7AC}"/>
    <dgm:cxn modelId="{E7C4B7CB-6066-499C-BE9F-6E36B5FF6E9A}" type="presOf" srcId="{87154C0D-66DC-42F9-ABBA-6A3879694DB4}" destId="{5697447C-F778-4BE1-BDD2-C0168D254289}" srcOrd="0" destOrd="1" presId="urn:microsoft.com/office/officeart/2005/8/layout/process1"/>
    <dgm:cxn modelId="{79BE36A3-C6A1-4CE8-A568-2C4D2B171BDC}" srcId="{B8CAD930-D7C1-4171-9EA3-A7F82C8734A2}" destId="{3BFCEAED-E10C-4BBC-BA6A-C00F9188A6F5}" srcOrd="2" destOrd="0" parTransId="{04F1C477-BCF5-4D96-82DD-1F9076DA0A25}" sibTransId="{B30004CF-C44A-42FD-BC8E-57A00CA61A66}"/>
    <dgm:cxn modelId="{DD194A45-2643-4316-B187-B783F8BA6246}" type="presParOf" srcId="{A7CF15AE-E860-41B1-9C75-9931FD19AEEC}" destId="{B29CE91D-6B6C-46DB-880C-99CB8ACFD47E}" srcOrd="0" destOrd="0" presId="urn:microsoft.com/office/officeart/2005/8/layout/process1"/>
    <dgm:cxn modelId="{DED59B1C-C63B-4694-A001-025B1786BBB1}" type="presParOf" srcId="{A7CF15AE-E860-41B1-9C75-9931FD19AEEC}" destId="{D73B275B-FEE6-4623-A7A1-BF37EB96F105}" srcOrd="1" destOrd="0" presId="urn:microsoft.com/office/officeart/2005/8/layout/process1"/>
    <dgm:cxn modelId="{BBF0D0BE-D192-4AA1-98A0-D021B496F5FC}" type="presParOf" srcId="{D73B275B-FEE6-4623-A7A1-BF37EB96F105}" destId="{BD9CDFC1-0029-44E2-A90A-6C65EDC29811}" srcOrd="0" destOrd="0" presId="urn:microsoft.com/office/officeart/2005/8/layout/process1"/>
    <dgm:cxn modelId="{B710616B-010F-49DB-B5A7-8180FF17D340}" type="presParOf" srcId="{A7CF15AE-E860-41B1-9C75-9931FD19AEEC}" destId="{5697447C-F778-4BE1-BDD2-C0168D254289}" srcOrd="2" destOrd="0" presId="urn:microsoft.com/office/officeart/2005/8/layout/process1"/>
    <dgm:cxn modelId="{89AC07AD-E2EE-409F-BCAB-D85FFDB8F17B}" type="presParOf" srcId="{A7CF15AE-E860-41B1-9C75-9931FD19AEEC}" destId="{787ABA92-6829-4E1A-98C0-14105A48C358}" srcOrd="3" destOrd="0" presId="urn:microsoft.com/office/officeart/2005/8/layout/process1"/>
    <dgm:cxn modelId="{417F9B50-1D8F-4269-8281-B0ECD4E45616}" type="presParOf" srcId="{787ABA92-6829-4E1A-98C0-14105A48C358}" destId="{16642BA7-F9BB-4DC7-91AB-7AF6FCABD8F1}" srcOrd="0" destOrd="0" presId="urn:microsoft.com/office/officeart/2005/8/layout/process1"/>
    <dgm:cxn modelId="{F70A8E9C-360E-4CBA-ADB8-865E52F5389A}" type="presParOf" srcId="{A7CF15AE-E860-41B1-9C75-9931FD19AEEC}" destId="{DF097545-99A3-4EB1-AB1C-F442913E788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346B-A412-4975-A4C4-FB43E71F238C}">
      <dsp:nvSpPr>
        <dsp:cNvPr id="0" name=""/>
        <dsp:cNvSpPr/>
      </dsp:nvSpPr>
      <dsp:spPr>
        <a:xfrm>
          <a:off x="0" y="91925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>
              <a:solidFill>
                <a:schemeClr val="tx1"/>
              </a:solidFill>
              <a:effectLst/>
            </a:rPr>
            <a:t>TypeScript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118855"/>
        <a:ext cx="7764804" cy="497795"/>
      </dsp:txXfrm>
    </dsp:sp>
    <dsp:sp modelId="{9A55B369-3FB4-4198-9F0D-1A54D3A55580}">
      <dsp:nvSpPr>
        <dsp:cNvPr id="0" name=""/>
        <dsp:cNvSpPr/>
      </dsp:nvSpPr>
      <dsp:spPr>
        <a:xfrm>
          <a:off x="0" y="709820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>
              <a:solidFill>
                <a:schemeClr val="tx1"/>
              </a:solidFill>
              <a:effectLst/>
            </a:rPr>
            <a:t>Angular: </a:t>
          </a:r>
          <a:r>
            <a:rPr lang="es-ES" sz="2300" b="1" kern="1200" dirty="0" err="1">
              <a:solidFill>
                <a:schemeClr val="tx1"/>
              </a:solidFill>
              <a:effectLst/>
            </a:rPr>
            <a:t>Getting</a:t>
          </a:r>
          <a:r>
            <a:rPr lang="es-ES" sz="2300" b="1" kern="1200" dirty="0">
              <a:solidFill>
                <a:schemeClr val="tx1"/>
              </a:solidFill>
              <a:effectLst/>
            </a:rPr>
            <a:t> </a:t>
          </a:r>
          <a:r>
            <a:rPr lang="es-ES" sz="2300" b="1" kern="1200" dirty="0" err="1">
              <a:solidFill>
                <a:schemeClr val="tx1"/>
              </a:solidFill>
              <a:effectLst/>
            </a:rPr>
            <a:t>started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736750"/>
        <a:ext cx="7764804" cy="497795"/>
      </dsp:txXfrm>
    </dsp:sp>
    <dsp:sp modelId="{D881C07F-A8A0-4C91-BA48-5F951D275A75}">
      <dsp:nvSpPr>
        <dsp:cNvPr id="0" name=""/>
        <dsp:cNvSpPr/>
      </dsp:nvSpPr>
      <dsp:spPr>
        <a:xfrm>
          <a:off x="0" y="1327715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>
              <a:solidFill>
                <a:schemeClr val="tx1"/>
              </a:solidFill>
              <a:effectLst/>
            </a:rPr>
            <a:t>Angular: Trabajando con </a:t>
          </a:r>
          <a:r>
            <a:rPr lang="es-ES" sz="2300" b="1" kern="1200" dirty="0" smtClean="0">
              <a:solidFill>
                <a:schemeClr val="tx1"/>
              </a:solidFill>
              <a:effectLst/>
            </a:rPr>
            <a:t>componentes y directivas.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1354645"/>
        <a:ext cx="7764804" cy="497795"/>
      </dsp:txXfrm>
    </dsp:sp>
    <dsp:sp modelId="{D63E8EC5-6E1D-4ABA-B0D9-39DB0688C256}">
      <dsp:nvSpPr>
        <dsp:cNvPr id="0" name=""/>
        <dsp:cNvSpPr/>
      </dsp:nvSpPr>
      <dsp:spPr>
        <a:xfrm>
          <a:off x="0" y="1945610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>
              <a:solidFill>
                <a:schemeClr val="tx1"/>
              </a:solidFill>
              <a:effectLst/>
            </a:rPr>
            <a:t>Angular: Servicios </a:t>
          </a:r>
          <a:r>
            <a:rPr lang="es-ES" sz="2300" b="1" kern="1200" dirty="0" smtClean="0">
              <a:solidFill>
                <a:schemeClr val="tx1"/>
              </a:solidFill>
              <a:effectLst/>
            </a:rPr>
            <a:t>y peticiones.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1972540"/>
        <a:ext cx="7764804" cy="497795"/>
      </dsp:txXfrm>
    </dsp:sp>
    <dsp:sp modelId="{D1E77AB3-DFAD-4F90-88DC-A8D01DC119DF}">
      <dsp:nvSpPr>
        <dsp:cNvPr id="0" name=""/>
        <dsp:cNvSpPr/>
      </dsp:nvSpPr>
      <dsp:spPr>
        <a:xfrm>
          <a:off x="0" y="2563505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>
              <a:solidFill>
                <a:schemeClr val="tx1"/>
              </a:solidFill>
              <a:effectLst/>
            </a:rPr>
            <a:t>Angular: </a:t>
          </a:r>
          <a:r>
            <a:rPr lang="es-ES" sz="2300" b="1" kern="1200" dirty="0" smtClean="0">
              <a:solidFill>
                <a:schemeClr val="tx1"/>
              </a:solidFill>
              <a:effectLst/>
            </a:rPr>
            <a:t>Formularios y pipes.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2590435"/>
        <a:ext cx="7764804" cy="497795"/>
      </dsp:txXfrm>
    </dsp:sp>
    <dsp:sp modelId="{01BA4176-A552-497D-93B4-572EAD8AC490}">
      <dsp:nvSpPr>
        <dsp:cNvPr id="0" name=""/>
        <dsp:cNvSpPr/>
      </dsp:nvSpPr>
      <dsp:spPr>
        <a:xfrm>
          <a:off x="0" y="3181400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smtClean="0">
              <a:solidFill>
                <a:schemeClr val="tx1"/>
              </a:solidFill>
              <a:effectLst/>
            </a:rPr>
            <a:t>Angular: </a:t>
          </a:r>
          <a:r>
            <a:rPr lang="es-ES" sz="2300" b="1" kern="1200" dirty="0" err="1" smtClean="0">
              <a:solidFill>
                <a:schemeClr val="tx1"/>
              </a:solidFill>
              <a:effectLst/>
            </a:rPr>
            <a:t>Routing</a:t>
          </a:r>
          <a:r>
            <a:rPr lang="es-ES" sz="2300" b="1" kern="1200" dirty="0" smtClean="0">
              <a:solidFill>
                <a:schemeClr val="tx1"/>
              </a:solidFill>
              <a:effectLst/>
            </a:rPr>
            <a:t> y navegación.</a:t>
          </a:r>
          <a:endParaRPr lang="es-ES" sz="2300" b="1" kern="1200" dirty="0">
            <a:solidFill>
              <a:schemeClr val="tx1"/>
            </a:solidFill>
            <a:effectLst/>
          </a:endParaRPr>
        </a:p>
      </dsp:txBody>
      <dsp:txXfrm>
        <a:off x="26930" y="3208330"/>
        <a:ext cx="7764804" cy="497795"/>
      </dsp:txXfrm>
    </dsp:sp>
    <dsp:sp modelId="{BA4CEB48-0E52-4086-B04B-039BCB3D0971}">
      <dsp:nvSpPr>
        <dsp:cNvPr id="0" name=""/>
        <dsp:cNvSpPr/>
      </dsp:nvSpPr>
      <dsp:spPr>
        <a:xfrm>
          <a:off x="0" y="3799295"/>
          <a:ext cx="7818664" cy="551655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>
              <a:solidFill>
                <a:schemeClr val="tx1"/>
              </a:solidFill>
              <a:effectLst/>
            </a:rPr>
            <a:t>Angular: </a:t>
          </a:r>
          <a:r>
            <a:rPr lang="es-ES" sz="2300" b="1" kern="1200" dirty="0" err="1">
              <a:solidFill>
                <a:schemeClr val="tx1"/>
              </a:solidFill>
              <a:effectLst/>
            </a:rPr>
            <a:t>Frameworks</a:t>
          </a:r>
          <a:r>
            <a:rPr lang="es-ES" sz="2300" b="1" kern="1200" dirty="0">
              <a:solidFill>
                <a:schemeClr val="tx1"/>
              </a:solidFill>
              <a:effectLst/>
            </a:rPr>
            <a:t> UI</a:t>
          </a:r>
        </a:p>
      </dsp:txBody>
      <dsp:txXfrm>
        <a:off x="26930" y="3826225"/>
        <a:ext cx="7764804" cy="497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CE91D-6B6C-46DB-880C-99CB8ACFD47E}">
      <dsp:nvSpPr>
        <dsp:cNvPr id="0" name=""/>
        <dsp:cNvSpPr/>
      </dsp:nvSpPr>
      <dsp:spPr>
        <a:xfrm>
          <a:off x="3" y="614917"/>
          <a:ext cx="2071799" cy="1018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/>
            <a:t>Llamada a </a:t>
          </a:r>
          <a:r>
            <a:rPr lang="es-ES" sz="1400" kern="1200" err="1"/>
            <a:t>httpClient</a:t>
          </a:r>
          <a:endParaRPr lang="es-E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kern="1200"/>
            <a:t>Cargamos el servicio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kern="1200"/>
            <a:t>Invocamos método: </a:t>
          </a:r>
          <a:r>
            <a:rPr lang="es-ES" sz="1100" kern="1200" err="1"/>
            <a:t>get</a:t>
          </a:r>
          <a:r>
            <a:rPr lang="es-ES" sz="1100" kern="1200"/>
            <a:t>, post, …</a:t>
          </a:r>
        </a:p>
      </dsp:txBody>
      <dsp:txXfrm>
        <a:off x="29836" y="644750"/>
        <a:ext cx="2012133" cy="958892"/>
      </dsp:txXfrm>
    </dsp:sp>
    <dsp:sp modelId="{D73B275B-FEE6-4623-A7A1-BF37EB96F105}">
      <dsp:nvSpPr>
        <dsp:cNvPr id="0" name=""/>
        <dsp:cNvSpPr/>
      </dsp:nvSpPr>
      <dsp:spPr>
        <a:xfrm>
          <a:off x="2274542" y="867294"/>
          <a:ext cx="429808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100" kern="1200"/>
        </a:p>
      </dsp:txBody>
      <dsp:txXfrm>
        <a:off x="2274542" y="970055"/>
        <a:ext cx="300866" cy="308284"/>
      </dsp:txXfrm>
    </dsp:sp>
    <dsp:sp modelId="{5697447C-F778-4BE1-BDD2-C0168D254289}">
      <dsp:nvSpPr>
        <dsp:cNvPr id="0" name=""/>
        <dsp:cNvSpPr/>
      </dsp:nvSpPr>
      <dsp:spPr>
        <a:xfrm>
          <a:off x="2882762" y="644398"/>
          <a:ext cx="2071799" cy="9595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err="1"/>
            <a:t>httpClient</a:t>
          </a:r>
          <a:r>
            <a:rPr lang="es-ES" sz="1400" kern="1200"/>
            <a:t> realiza petición a </a:t>
          </a:r>
          <a:r>
            <a:rPr lang="es-ES" sz="1400" kern="1200" err="1"/>
            <a:t>Backend</a:t>
          </a:r>
          <a:endParaRPr lang="es-E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kern="1200"/>
            <a:t>Devuelve un Observable</a:t>
          </a:r>
        </a:p>
      </dsp:txBody>
      <dsp:txXfrm>
        <a:off x="2910868" y="672504"/>
        <a:ext cx="2015587" cy="903386"/>
      </dsp:txXfrm>
    </dsp:sp>
    <dsp:sp modelId="{787ABA92-6829-4E1A-98C0-14105A48C358}">
      <dsp:nvSpPr>
        <dsp:cNvPr id="0" name=""/>
        <dsp:cNvSpPr/>
      </dsp:nvSpPr>
      <dsp:spPr>
        <a:xfrm>
          <a:off x="5152076" y="841694"/>
          <a:ext cx="421984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100" kern="1200"/>
        </a:p>
      </dsp:txBody>
      <dsp:txXfrm>
        <a:off x="5152076" y="944455"/>
        <a:ext cx="295389" cy="308284"/>
      </dsp:txXfrm>
    </dsp:sp>
    <dsp:sp modelId="{DF097545-99A3-4EB1-AB1C-F442913E7887}">
      <dsp:nvSpPr>
        <dsp:cNvPr id="0" name=""/>
        <dsp:cNvSpPr/>
      </dsp:nvSpPr>
      <dsp:spPr>
        <a:xfrm>
          <a:off x="5747779" y="637426"/>
          <a:ext cx="2071799" cy="14706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/>
            <a:t>Nos suscribimos al Observable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kern="1200"/>
            <a:t>Cuando tengamos respuesta, se ejecutará la función indicada insertando la respuesta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100" kern="1200"/>
            <a:t>Si hay error se ejecuta el método de error</a:t>
          </a:r>
        </a:p>
      </dsp:txBody>
      <dsp:txXfrm>
        <a:off x="5790854" y="680501"/>
        <a:ext cx="1985649" cy="1384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desplazar la página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2000" spc="-1" strike="noStrike">
                <a:latin typeface="Arial"/>
              </a:rPr>
              <a:t>Pulse para editar el formato de las notas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latin typeface="Times New Roman"/>
              </a:rPr>
              <a:t>&lt;cabecera&gt;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s-ES" sz="1400" spc="-1" strike="noStrike">
                <a:latin typeface="Times New Roman"/>
              </a:rPr>
              <a:t>&lt;fecha/hora&gt;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F162FD04-5D4C-4FEA-908A-FFD94A3644CC}" type="slidenum">
              <a:rPr b="0" lang="es-ES" sz="1400" spc="-1" strike="noStrike">
                <a:latin typeface="Times New Roman"/>
              </a:rPr>
              <a:t>&lt;número&gt;</a:t>
            </a:fld>
            <a:endParaRPr b="0" lang="es-E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5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82DCDF8-7FA9-4B66-A0AF-2FCCC972BAC6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5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C593BB5-C0F2-4DC6-8A0B-E0D66DE88642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5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8E4C5B9-28EF-4796-88B1-025D5D15E3D4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6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3A3649F-529A-415A-BE8A-53DB5A4C4811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6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91757C7-C96A-443A-AE54-CBA9533D1CF4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6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9B5D9FB-CBFF-4799-81A1-98250E22D2E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EA30CF7-2B41-47CE-946A-04A4E988EC7D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7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9D3B293-7183-4AD5-A503-ED6583EDA32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7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8AD382E-4668-46A1-A3AB-09679931D694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7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F8FA707-EFA8-48F5-B4CF-6155D4DC2C9D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B1CAA1D-9075-4A1E-A1AA-8356FE766DB0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8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F795938-CE04-41D4-8198-6DA25E4BBFB3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8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150C175-E5EF-4EE1-BF31-0B5CC6367D26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9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8347A58-C1D8-422D-94EB-E5222BA303FC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9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B093DB8-21E6-407B-AC59-36221CC5C5DE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9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D548783-8BBB-43B1-9326-3C5F390D9CB2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69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9226318-B066-4CAA-B0EF-2303F34F235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0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79EA9C9-8C2F-42DA-9240-DE6348D94E27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0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FA28EFB-AD0A-4033-968D-E33DAB712E9B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0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CA25586-3CDB-46F0-A1EF-7C69CDC40145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1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1D323AF-4346-4802-9D19-4F50A2D8280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1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6C6AA04-8A4E-45EF-A030-D818DCC05DB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1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D18BD23-2E3C-4592-9B3A-90C172AD65C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2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87855A9-19F6-4D9E-AFF3-E5CD061F49DE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2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DCC173A-6F12-438D-B203-8630D52D1E7A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2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049FC14-C106-4067-8D57-7D19FA799BA6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2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39C3214-9C41-4532-BF28-4AF74CBDB60A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3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57FD9B4-C872-4856-A4BE-459D087C2DAB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3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96CCA8D-FA74-4AE2-8FA2-C1A085893664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3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DD11EFA-0492-4CC4-9BA2-F8F4EC4B63B9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4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269C987-AEF2-4A37-93A4-D648E22141A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4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A089D70-1938-49CA-BC7C-596500419A9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4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726CA2A-C0F8-41E1-9293-744E063FE10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19F82A5-36F2-4C2B-892D-A938191BF82C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5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6B58637-49FF-4B43-A71C-02E35CFD5C9D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5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672B232-923A-4D29-B0DC-8987042EFE4A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5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66D56D6-A62E-4E72-BBEF-3DEDC265A6AD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CB37F33-B618-4DC6-9690-1AF20B1F6217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6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99F5D3F-47C0-4CB1-92E6-60C50F37480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4740810-7D7E-44A8-92A1-04856E2D65D4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7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255862A-60AE-4EE3-A4F6-C941D1DA2C2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7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18AFF79-50FE-4FEE-8FCE-6EC406F2F9D6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7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D9FA0D3-5E96-4982-B69B-C5D1D3893C9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8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90D0CE8-0545-4653-B8E3-560B1146EA7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s-ES" sz="2000" spc="-1" strike="noStrike">
                <a:latin typeface="Arial"/>
              </a:rPr>
              <a:t>Modificar diapositiva, añadir mas info sobre como vincular lo inputs, #name?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1F35611-DC4B-487B-A2F1-12EE8339EF3F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8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8E80F42-82A1-44D3-BB88-3408BB1BFEA2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8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B911B51-D2F4-447D-ACA8-25FF7BB5A4E9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9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A110444-611F-47DA-A44D-E5CCA6A18229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9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4EAD257-0B23-4B0E-86D5-BBF4985E9B45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79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59D8449-8596-43BC-B780-EAD7F07C56E7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0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B2126E0-98CC-4AD2-A584-AC4742782553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0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6EFCF5F-863A-4E20-8A38-AD41B5D6EE38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0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1D47747-C99E-47B3-A671-79CA8251D5ED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1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798719E-01B6-4AE1-BA74-12AFA1FB4440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1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07C2BA4-B501-4C1A-9D2F-C2886CDD7FD0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1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45B5064-347D-4DF2-99F0-1D9404E6A5D9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1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F3A3CDB-C052-4C73-81E9-81F5A1151766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2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B452D83-740A-49FB-A28D-40D0754E0167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2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80898DE-0441-4585-B49C-300FBE24780B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2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F6CB2AD-EFF9-41B1-91D5-31E8AD97CA6E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83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68613F6-9B84-457B-8059-1170724E33FA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628560" y="1609560"/>
            <a:ext cx="7886520" cy="456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788652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183440" cy="235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6992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8560" y="399528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66992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329508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596124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2856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329508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596124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628560" y="1609560"/>
            <a:ext cx="7886520" cy="456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788652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183440" cy="235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4566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6992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28560" y="3995280"/>
            <a:ext cx="788652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69920" y="160956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2856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669920" y="3995280"/>
            <a:ext cx="384840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2856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329508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961240" y="160956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2856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body"/>
          </p:nvPr>
        </p:nvSpPr>
        <p:spPr>
          <a:xfrm>
            <a:off x="329508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body"/>
          </p:nvPr>
        </p:nvSpPr>
        <p:spPr>
          <a:xfrm>
            <a:off x="5961240" y="3995280"/>
            <a:ext cx="2539080" cy="2178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slideLayout" Target="../slideLayouts/slideLayout1.xml"/><Relationship Id="rId13" Type="http://schemas.openxmlformats.org/officeDocument/2006/relationships/slideLayout" Target="../slideLayouts/slideLayout2.xml"/><Relationship Id="rId14" Type="http://schemas.openxmlformats.org/officeDocument/2006/relationships/slideLayout" Target="../slideLayouts/slideLayout3.xml"/><Relationship Id="rId15" Type="http://schemas.openxmlformats.org/officeDocument/2006/relationships/slideLayout" Target="../slideLayouts/slideLayout4.xml"/><Relationship Id="rId16" Type="http://schemas.openxmlformats.org/officeDocument/2006/relationships/slideLayout" Target="../slideLayouts/slideLayout5.xml"/><Relationship Id="rId17" Type="http://schemas.openxmlformats.org/officeDocument/2006/relationships/slideLayout" Target="../slideLayouts/slideLayout6.xml"/><Relationship Id="rId18" Type="http://schemas.openxmlformats.org/officeDocument/2006/relationships/slideLayout" Target="../slideLayouts/slideLayout7.xml"/><Relationship Id="rId19" Type="http://schemas.openxmlformats.org/officeDocument/2006/relationships/slideLayout" Target="../slideLayouts/slideLayout8.xml"/><Relationship Id="rId2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3"/>
          <p:cNvSpPr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" name="Imagen 19" descr=""/>
          <p:cNvPicPr/>
          <p:nvPr/>
        </p:nvPicPr>
        <p:blipFill>
          <a:blip r:embed="rId2"/>
          <a:stretch/>
        </p:blipFill>
        <p:spPr>
          <a:xfrm>
            <a:off x="7943040" y="365040"/>
            <a:ext cx="268560" cy="298080"/>
          </a:xfrm>
          <a:prstGeom prst="rect">
            <a:avLst/>
          </a:prstGeom>
          <a:ln>
            <a:noFill/>
          </a:ln>
        </p:spPr>
      </p:pic>
      <p:pic>
        <p:nvPicPr>
          <p:cNvPr id="4" name="Imagen 20" descr=""/>
          <p:cNvPicPr/>
          <p:nvPr/>
        </p:nvPicPr>
        <p:blipFill>
          <a:blip r:embed="rId3"/>
          <a:stretch/>
        </p:blipFill>
        <p:spPr>
          <a:xfrm rot="21115800">
            <a:off x="8478360" y="821160"/>
            <a:ext cx="274680" cy="274680"/>
          </a:xfrm>
          <a:prstGeom prst="rect">
            <a:avLst/>
          </a:prstGeom>
          <a:ln>
            <a:noFill/>
          </a:ln>
        </p:spPr>
      </p:pic>
      <p:pic>
        <p:nvPicPr>
          <p:cNvPr id="5" name="Imagen 23" descr=""/>
          <p:cNvPicPr/>
          <p:nvPr/>
        </p:nvPicPr>
        <p:blipFill>
          <a:blip r:embed="rId4"/>
          <a:stretch/>
        </p:blipFill>
        <p:spPr>
          <a:xfrm rot="19837200">
            <a:off x="8521200" y="394560"/>
            <a:ext cx="272520" cy="272520"/>
          </a:xfrm>
          <a:prstGeom prst="rect">
            <a:avLst/>
          </a:prstGeom>
          <a:ln>
            <a:noFill/>
          </a:ln>
        </p:spPr>
      </p:pic>
      <p:pic>
        <p:nvPicPr>
          <p:cNvPr id="6" name="Imagen 21" descr=""/>
          <p:cNvPicPr/>
          <p:nvPr/>
        </p:nvPicPr>
        <p:blipFill>
          <a:blip r:embed="rId5"/>
          <a:srcRect l="19117" t="20083" r="18806" b="21187"/>
          <a:stretch/>
        </p:blipFill>
        <p:spPr>
          <a:xfrm rot="227400">
            <a:off x="8033400" y="450720"/>
            <a:ext cx="647280" cy="612360"/>
          </a:xfrm>
          <a:prstGeom prst="rect">
            <a:avLst/>
          </a:prstGeom>
          <a:ln>
            <a:noFill/>
          </a:ln>
        </p:spPr>
      </p:pic>
      <p:pic>
        <p:nvPicPr>
          <p:cNvPr id="7" name="4 Imagen" descr=""/>
          <p:cNvPicPr/>
          <p:nvPr/>
        </p:nvPicPr>
        <p:blipFill>
          <a:blip r:embed="rId6"/>
          <a:stretch/>
        </p:blipFill>
        <p:spPr>
          <a:xfrm>
            <a:off x="360" y="360"/>
            <a:ext cx="9142920" cy="6856920"/>
          </a:xfrm>
          <a:prstGeom prst="rect">
            <a:avLst/>
          </a:prstGeom>
          <a:ln>
            <a:noFill/>
          </a:ln>
        </p:spPr>
      </p:pic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317880" y="2565000"/>
            <a:ext cx="6846120" cy="287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Headline (arial 30, bold, white)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6674400" y="244800"/>
            <a:ext cx="2250360" cy="130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Picture 4" descr="Resultado de imagen de everis"/>
          <p:cNvPicPr/>
          <p:nvPr/>
        </p:nvPicPr>
        <p:blipFill>
          <a:blip r:embed="rId7"/>
          <a:stretch/>
        </p:blipFill>
        <p:spPr>
          <a:xfrm>
            <a:off x="6858000" y="331560"/>
            <a:ext cx="1830600" cy="999360"/>
          </a:xfrm>
          <a:prstGeom prst="rect">
            <a:avLst/>
          </a:prstGeom>
          <a:ln>
            <a:noFill/>
          </a:ln>
        </p:spPr>
      </p:pic>
      <p:pic>
        <p:nvPicPr>
          <p:cNvPr id="11" name="Imagen 15" descr=""/>
          <p:cNvPicPr/>
          <p:nvPr/>
        </p:nvPicPr>
        <p:blipFill>
          <a:blip r:embed="rId8"/>
          <a:stretch/>
        </p:blipFill>
        <p:spPr>
          <a:xfrm>
            <a:off x="7269120" y="5334840"/>
            <a:ext cx="360000" cy="399240"/>
          </a:xfrm>
          <a:prstGeom prst="rect">
            <a:avLst/>
          </a:prstGeom>
          <a:ln>
            <a:noFill/>
          </a:ln>
        </p:spPr>
      </p:pic>
      <p:pic>
        <p:nvPicPr>
          <p:cNvPr id="12" name="Imagen 16" descr=""/>
          <p:cNvPicPr/>
          <p:nvPr/>
        </p:nvPicPr>
        <p:blipFill>
          <a:blip r:embed="rId9"/>
          <a:stretch/>
        </p:blipFill>
        <p:spPr>
          <a:xfrm rot="21115800">
            <a:off x="8097480" y="6030720"/>
            <a:ext cx="444240" cy="444240"/>
          </a:xfrm>
          <a:prstGeom prst="rect">
            <a:avLst/>
          </a:prstGeom>
          <a:ln>
            <a:noFill/>
          </a:ln>
        </p:spPr>
      </p:pic>
      <p:pic>
        <p:nvPicPr>
          <p:cNvPr id="13" name="Imagen 17" descr=""/>
          <p:cNvPicPr/>
          <p:nvPr/>
        </p:nvPicPr>
        <p:blipFill>
          <a:blip r:embed="rId10"/>
          <a:stretch/>
        </p:blipFill>
        <p:spPr>
          <a:xfrm rot="19837200">
            <a:off x="8165880" y="5341320"/>
            <a:ext cx="440640" cy="440640"/>
          </a:xfrm>
          <a:prstGeom prst="rect">
            <a:avLst/>
          </a:prstGeom>
          <a:ln>
            <a:noFill/>
          </a:ln>
        </p:spPr>
      </p:pic>
      <p:pic>
        <p:nvPicPr>
          <p:cNvPr id="14" name="Imagen 18" descr=""/>
          <p:cNvPicPr/>
          <p:nvPr/>
        </p:nvPicPr>
        <p:blipFill>
          <a:blip r:embed="rId11"/>
          <a:srcRect l="19117" t="20083" r="18806" b="21187"/>
          <a:stretch/>
        </p:blipFill>
        <p:spPr>
          <a:xfrm rot="227400">
            <a:off x="7378200" y="5432400"/>
            <a:ext cx="1046160" cy="989640"/>
          </a:xfrm>
          <a:prstGeom prst="rect">
            <a:avLst/>
          </a:prstGeom>
          <a:ln>
            <a:noFill/>
          </a:ln>
        </p:spPr>
      </p:pic>
      <p:sp>
        <p:nvSpPr>
          <p:cNvPr id="15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80" spc="-1" strike="noStrike">
                <a:solidFill>
                  <a:srgbClr val="ffffff"/>
                </a:solidFill>
                <a:latin typeface="Calibri"/>
              </a:rPr>
              <a:t>Pulse para editar el formato de esquema del texto</a:t>
            </a:r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130" spc="-1" strike="noStrike">
                <a:solidFill>
                  <a:srgbClr val="ffffff"/>
                </a:solidFill>
                <a:latin typeface="Calibri"/>
              </a:rPr>
              <a:t>Segundo nivel del esquema</a:t>
            </a:r>
            <a:endParaRPr b="0" lang="es-ES" sz="1130" spc="-1" strike="noStrike">
              <a:solidFill>
                <a:srgbClr val="ffffff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20" spc="-1" strike="noStrike">
                <a:solidFill>
                  <a:srgbClr val="ffffff"/>
                </a:solidFill>
                <a:latin typeface="Calibri"/>
              </a:rPr>
              <a:t>Tercer nivel del esquema</a:t>
            </a:r>
            <a:endParaRPr b="0" lang="es-ES" sz="1020" spc="-1" strike="noStrike">
              <a:solidFill>
                <a:srgbClr val="ffffff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020" spc="-1" strike="noStrike">
                <a:solidFill>
                  <a:srgbClr val="ffffff"/>
                </a:solidFill>
                <a:latin typeface="Calibri"/>
              </a:rPr>
              <a:t>Cuarto nivel del esquema</a:t>
            </a:r>
            <a:endParaRPr b="0" lang="es-ES" sz="1020" spc="-1" strike="noStrike">
              <a:solidFill>
                <a:srgbClr val="ffffff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  <p:sldLayoutId id="2147483660" r:id="rId2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2"/>
          <p:cNvSpPr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3"/>
          <p:cNvSpPr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5" name="Imagen 19" descr=""/>
          <p:cNvPicPr/>
          <p:nvPr/>
        </p:nvPicPr>
        <p:blipFill>
          <a:blip r:embed="rId2"/>
          <a:stretch/>
        </p:blipFill>
        <p:spPr>
          <a:xfrm>
            <a:off x="7943040" y="365040"/>
            <a:ext cx="268560" cy="298080"/>
          </a:xfrm>
          <a:prstGeom prst="rect">
            <a:avLst/>
          </a:prstGeom>
          <a:ln>
            <a:noFill/>
          </a:ln>
        </p:spPr>
      </p:pic>
      <p:pic>
        <p:nvPicPr>
          <p:cNvPr id="56" name="Imagen 20" descr=""/>
          <p:cNvPicPr/>
          <p:nvPr/>
        </p:nvPicPr>
        <p:blipFill>
          <a:blip r:embed="rId3"/>
          <a:stretch/>
        </p:blipFill>
        <p:spPr>
          <a:xfrm rot="21115800">
            <a:off x="8478360" y="821160"/>
            <a:ext cx="274680" cy="274680"/>
          </a:xfrm>
          <a:prstGeom prst="rect">
            <a:avLst/>
          </a:prstGeom>
          <a:ln>
            <a:noFill/>
          </a:ln>
        </p:spPr>
      </p:pic>
      <p:pic>
        <p:nvPicPr>
          <p:cNvPr id="57" name="Imagen 23" descr=""/>
          <p:cNvPicPr/>
          <p:nvPr/>
        </p:nvPicPr>
        <p:blipFill>
          <a:blip r:embed="rId4"/>
          <a:stretch/>
        </p:blipFill>
        <p:spPr>
          <a:xfrm rot="19837200">
            <a:off x="8521200" y="394560"/>
            <a:ext cx="272520" cy="272520"/>
          </a:xfrm>
          <a:prstGeom prst="rect">
            <a:avLst/>
          </a:prstGeom>
          <a:ln>
            <a:noFill/>
          </a:ln>
        </p:spPr>
      </p:pic>
      <p:pic>
        <p:nvPicPr>
          <p:cNvPr id="58" name="Imagen 21" descr=""/>
          <p:cNvPicPr/>
          <p:nvPr/>
        </p:nvPicPr>
        <p:blipFill>
          <a:blip r:embed="rId5"/>
          <a:srcRect l="19117" t="20083" r="18806" b="21187"/>
          <a:stretch/>
        </p:blipFill>
        <p:spPr>
          <a:xfrm rot="227400">
            <a:off x="8033400" y="450720"/>
            <a:ext cx="647280" cy="612360"/>
          </a:xfrm>
          <a:prstGeom prst="rect">
            <a:avLst/>
          </a:prstGeom>
          <a:ln>
            <a:noFill/>
          </a:ln>
        </p:spPr>
      </p:pic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183440" cy="5076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Haga clic para modificar el estilo de título del patrón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28560" y="1609560"/>
            <a:ext cx="7886520" cy="456696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Haga clic para modificar el estilo de texto del patrón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Segundo nivel</a:t>
            </a:r>
            <a:endParaRPr b="0" lang="es-ES" sz="1350" spc="-1" strike="noStrike">
              <a:solidFill>
                <a:srgbClr val="ffffff"/>
              </a:solidFill>
              <a:latin typeface="Calibri"/>
            </a:endParaRPr>
          </a:p>
          <a:p>
            <a:pPr lvl="2" marL="64296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130" spc="-1" strike="noStrike">
                <a:solidFill>
                  <a:srgbClr val="ffffff"/>
                </a:solidFill>
                <a:latin typeface="Calibri"/>
              </a:rPr>
              <a:t>Tercer nivel</a:t>
            </a:r>
            <a:endParaRPr b="0" lang="es-ES" sz="1130" spc="-1" strike="noStrike">
              <a:solidFill>
                <a:srgbClr val="ffffff"/>
              </a:solidFill>
              <a:latin typeface="Calibri"/>
            </a:endParaRPr>
          </a:p>
          <a:p>
            <a:pPr lvl="3" marL="90000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020" spc="-1" strike="noStrike">
                <a:solidFill>
                  <a:srgbClr val="ffffff"/>
                </a:solidFill>
                <a:latin typeface="Calibri"/>
              </a:rPr>
              <a:t>Cuarto nivel</a:t>
            </a:r>
            <a:endParaRPr b="0" lang="es-ES" sz="1020" spc="-1" strike="noStrike">
              <a:solidFill>
                <a:srgbClr val="ffffff"/>
              </a:solidFill>
              <a:latin typeface="Calibri"/>
            </a:endParaRPr>
          </a:p>
          <a:p>
            <a:pPr lvl="4" marL="115740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020" spc="-1" strike="noStrike">
                <a:solidFill>
                  <a:srgbClr val="ffffff"/>
                </a:solidFill>
                <a:latin typeface="Calibri"/>
              </a:rPr>
              <a:t>Quinto nivel</a:t>
            </a:r>
            <a:endParaRPr b="0" lang="es-ES" sz="102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628560" y="997920"/>
            <a:ext cx="7183440" cy="48672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Haga clic para modificar el estilo de texto del patrón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code.visualstudio.com/docs/?dv=win" TargetMode="External"/><Relationship Id="rId2" Type="http://schemas.openxmlformats.org/officeDocument/2006/relationships/hyperlink" Target="https://www.google.es/chrome/browser/desktop/index.html" TargetMode="External"/><Relationship Id="rId3" Type="http://schemas.openxmlformats.org/officeDocument/2006/relationships/hyperlink" Target="https://nodejs.org/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hyperlink" Target="https://nitayneeman.com/posts/understanding-the-angular-cli-workspace-file/" TargetMode="External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hyperlink" Target="https://angular.io/guide/security#sanitization-example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3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image" Target="../media/image77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hyperlink" Target="https://angular.io/api/common/http/HttpClient" TargetMode="External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hyperlink" Target="https://github.com/spring-petclinic/spring-petclinic-rest.git" TargetMode="External"/><Relationship Id="rId2" Type="http://schemas.openxmlformats.org/officeDocument/2006/relationships/hyperlink" Target="http://10.156.124.32:9966/petclinic/api/owners/" TargetMode="External"/><Relationship Id="rId3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image" Target="../media/image8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hyperlink" Target="https://angular.io/api/common/CurrencyPipe" TargetMode="Externa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hyperlink" Target="https://angular.io/api/common/DatePipe" TargetMode="Externa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hyperlink" Target="https://angular.io/api/common/SlicePipe" TargetMode="Externa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hyperlink" Target="https://angular.io/api/common/AsyncPipe" TargetMode="Externa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100.png"/><Relationship Id="rId2" Type="http://schemas.openxmlformats.org/officeDocument/2006/relationships/image" Target="../media/image101.png"/><Relationship Id="rId3" Type="http://schemas.openxmlformats.org/officeDocument/2006/relationships/slideLayout" Target="../slideLayouts/slideLayout13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hyperlink" Target="https://angular.io/api/forms/FormsModule" TargetMode="External"/><Relationship Id="rId2" Type="http://schemas.openxmlformats.org/officeDocument/2006/relationships/hyperlink" Target="https://angular.io/api/platform-browser/BrowserModule" TargetMode="External"/><Relationship Id="rId3" Type="http://schemas.openxmlformats.org/officeDocument/2006/relationships/hyperlink" Target="https://angular.io/api/forms/FormsModule" TargetMode="External"/><Relationship Id="rId4" Type="http://schemas.openxmlformats.org/officeDocument/2006/relationships/slideLayout" Target="../slideLayouts/slideLayout13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slideLayout" Target="../slideLayouts/slideLayout13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hyperlink" Target="https://angular.io/api/forms/NgModel" TargetMode="External"/><Relationship Id="rId2" Type="http://schemas.openxmlformats.org/officeDocument/2006/relationships/image" Target="../media/image103.png"/><Relationship Id="rId3" Type="http://schemas.openxmlformats.org/officeDocument/2006/relationships/slideLayout" Target="../slideLayouts/slideLayout1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hyperlink" Target="http://localhost:9966/petclinic/swagger-ui.html#!/owner-rest-controller/addOwnerUsingPOST" TargetMode="Externa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slideLayout" Target="../slideLayouts/slideLayout13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slideLayout" Target="../slideLayouts/slideLayout13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10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1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1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112.png"/><Relationship Id="rId2" Type="http://schemas.openxmlformats.org/officeDocument/2006/relationships/image" Target="../media/image11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1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slideLayout" Target="../slideLayouts/slideLayout13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116.png"/><Relationship Id="rId2" Type="http://schemas.openxmlformats.org/officeDocument/2006/relationships/slideLayout" Target="../slideLayouts/slideLayout13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slideLayout" Target="../slideLayouts/slideLayout13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image" Target="../media/image121.png"/><Relationship Id="rId2" Type="http://schemas.openxmlformats.org/officeDocument/2006/relationships/image" Target="../media/image122.png"/><Relationship Id="rId3" Type="http://schemas.openxmlformats.org/officeDocument/2006/relationships/slideLayout" Target="../slideLayouts/slideLayout13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123.png"/><Relationship Id="rId2" Type="http://schemas.openxmlformats.org/officeDocument/2006/relationships/image" Target="../media/image124.png"/><Relationship Id="rId3" Type="http://schemas.openxmlformats.org/officeDocument/2006/relationships/slideLayout" Target="../slideLayouts/slideLayout13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image" Target="../media/image125.png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slideLayout" Target="../slideLayouts/slideLayout13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image" Target="../media/image128.png"/><Relationship Id="rId2" Type="http://schemas.openxmlformats.org/officeDocument/2006/relationships/slideLayout" Target="../slideLayouts/slideLayout13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hyperlink" Target="https://valor-software.com/ngx-bootstrap/#/" TargetMode="External"/><Relationship Id="rId2" Type="http://schemas.openxmlformats.org/officeDocument/2006/relationships/hyperlink" Target="https://material.angular.io/" TargetMode="External"/><Relationship Id="rId3" Type="http://schemas.openxmlformats.org/officeDocument/2006/relationships/hyperlink" Target="https://ng-semantic.herokuapp.com/#/" TargetMode="External"/><Relationship Id="rId4" Type="http://schemas.openxmlformats.org/officeDocument/2006/relationships/hyperlink" Target="https://onsen.io/angular2/" TargetMode="External"/><Relationship Id="rId5" Type="http://schemas.openxmlformats.org/officeDocument/2006/relationships/hyperlink" Target="https://www.primefaces.org/primeng/#/" TargetMode="Externa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image" Target="../media/image13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317880" y="3049200"/>
            <a:ext cx="6400440" cy="863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Aft>
                <a:spcPts val="1349"/>
              </a:spcAft>
            </a:pPr>
            <a:r>
              <a:rPr b="0" lang="es-ES" sz="1350" spc="-1" strike="noStrike">
                <a:solidFill>
                  <a:srgbClr val="d2e7a9"/>
                </a:solidFill>
                <a:latin typeface="Arial"/>
              </a:rPr>
              <a:t>Everis Sevilla – Equipo especializado Dfront – Línea Digital</a:t>
            </a:r>
            <a:br/>
            <a:endParaRPr b="0" lang="es-ES" sz="1350" spc="-1" strike="noStrike"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317880" y="2676600"/>
            <a:ext cx="1049040" cy="267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800" spc="-1" strike="noStrike">
                <a:solidFill>
                  <a:srgbClr val="ffffff"/>
                </a:solidFill>
                <a:latin typeface="Arial"/>
              </a:rPr>
              <a:t>Road to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Imagen 3" descr=""/>
          <p:cNvPicPr/>
          <p:nvPr/>
        </p:nvPicPr>
        <p:blipFill>
          <a:blip r:embed="rId1"/>
          <a:stretch/>
        </p:blipFill>
        <p:spPr>
          <a:xfrm>
            <a:off x="7280280" y="1390320"/>
            <a:ext cx="1314720" cy="362520"/>
          </a:xfrm>
          <a:prstGeom prst="rect">
            <a:avLst/>
          </a:prstGeom>
          <a:ln>
            <a:noFill/>
          </a:ln>
        </p:spPr>
      </p:pic>
      <p:sp>
        <p:nvSpPr>
          <p:cNvPr id="107" name="CustomShape 3"/>
          <p:cNvSpPr/>
          <p:nvPr/>
        </p:nvSpPr>
        <p:spPr>
          <a:xfrm>
            <a:off x="1265760" y="2624040"/>
            <a:ext cx="124488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lang="es-ES" sz="2400" spc="-1" strike="noStrike">
                <a:solidFill>
                  <a:srgbClr val="c00000"/>
                </a:solidFill>
                <a:latin typeface="Calibri"/>
              </a:rPr>
              <a:t>Angular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108" name="CustomShape 4"/>
          <p:cNvSpPr/>
          <p:nvPr/>
        </p:nvSpPr>
        <p:spPr>
          <a:xfrm>
            <a:off x="0" y="3014640"/>
            <a:ext cx="2385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bg1"/>
            </a:solidFill>
            <a:tailEnd len="med" type="triangle" w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42514127"/>
              </p:ext>
            </p:extLst>
          </p:nvPr>
        </p:nvGraphicFramePr>
        <p:xfrm>
          <a:off x="628560" y="1724400"/>
          <a:ext cx="7818480" cy="4417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10" name="TextShape 2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Hoja de ruta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-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s-ES" sz="158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ES TYPESCRIPT?</a:t>
            </a:r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58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287640">
              <a:lnSpc>
                <a:spcPct val="90000"/>
              </a:lnSpc>
              <a:spcBef>
                <a:spcPts val="281"/>
              </a:spcBef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Lenguaje de programación de </a:t>
            </a: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código abierto 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mantenido por Microsoft.</a:t>
            </a: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287640">
              <a:lnSpc>
                <a:spcPct val="90000"/>
              </a:lnSpc>
              <a:spcBef>
                <a:spcPts val="281"/>
              </a:spcBef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Superset de JavaScript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, extiende la funcionalidad de éste (clases, interfaces, herencia, tipado…)</a:t>
            </a: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287640">
              <a:lnSpc>
                <a:spcPct val="90000"/>
              </a:lnSpc>
              <a:spcBef>
                <a:spcPts val="281"/>
              </a:spcBef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Orientado a objetos</a:t>
            </a:r>
            <a:r>
              <a:rPr b="1" lang="es-ES" sz="2200" spc="-1" strike="noStrike">
                <a:solidFill>
                  <a:srgbClr val="d7e2dc"/>
                </a:solidFill>
                <a:latin typeface="Calibri"/>
                <a:ea typeface="Segoe UI Black"/>
              </a:rPr>
              <a:t>, fuertemente tipado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287640">
              <a:lnSpc>
                <a:spcPct val="90000"/>
              </a:lnSpc>
              <a:spcBef>
                <a:spcPts val="281"/>
              </a:spcBef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Con un </a:t>
            </a: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transpilador compila a lenguaje JavaScript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 lvl="1" marL="385920" indent="-287640">
              <a:lnSpc>
                <a:spcPct val="90000"/>
              </a:lnSpc>
              <a:spcBef>
                <a:spcPts val="281"/>
              </a:spcBef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Se utiliza </a:t>
            </a: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principalmente en el lado del cliente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, aunque está aumentando su uso en el lado del servidor: </a:t>
            </a:r>
            <a:r>
              <a:rPr b="1" lang="es-ES" sz="2200" spc="-1" strike="noStrike">
                <a:solidFill>
                  <a:srgbClr val="d6fb47"/>
                </a:solidFill>
                <a:latin typeface="Calibri"/>
                <a:ea typeface="Segoe UI Black"/>
              </a:rPr>
              <a:t>Node JS</a:t>
            </a:r>
            <a:r>
              <a:rPr b="0" lang="es-ES" sz="22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TypeScript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4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  <a:effectLst>
            <a:outerShdw algn="ctr" blurRad="5715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3"/>
          <a:fontRef idx="minor"/>
        </p:style>
      </p:sp>
      <p:sp>
        <p:nvSpPr>
          <p:cNvPr id="115" name="CustomShape 5"/>
          <p:cNvSpPr/>
          <p:nvPr/>
        </p:nvSpPr>
        <p:spPr>
          <a:xfrm>
            <a:off x="5974200" y="1484640"/>
            <a:ext cx="1837800" cy="580320"/>
          </a:xfrm>
          <a:prstGeom prst="roundRect">
            <a:avLst>
              <a:gd name="adj" fmla="val 8594"/>
            </a:avLst>
          </a:prstGeom>
          <a:blipFill rotWithShape="0">
            <a:blip r:embed="rId1"/>
            <a:stretch>
              <a:fillRect/>
            </a:stretch>
          </a:blipFill>
          <a:ln>
            <a:noFill/>
          </a:ln>
          <a:effectLst>
            <a:reflection algn="bl" blurRad="12700" dir="5400000" dist="5000" endPos="28000" rotWithShape="0" stA="38000" sy="-100000"/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317880" y="2853000"/>
            <a:ext cx="6400440" cy="115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</a:rPr>
              <a:t>¿Qué es Angular?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Angular es un Framework de desarrollo para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</a:rPr>
              <a:t>JavaScript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 creado por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</a:rPr>
              <a:t>Google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. 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</a:rPr>
              <a:t>¿Para qué sirve?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La finalidad de Angular es facilitarnos el desarrollo de aplicaciones web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</a:rPr>
              <a:t>SPA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, y darnos herramientas para trabajar con los elementos de la web de una manera más sencilla y optima.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</a:rPr>
              <a:t>Composición: 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Está formado por un conjunto de librerías con las que podremos resolver la mayoría de los problemas que se nos presentan en programación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</a:rPr>
              <a:t>Frontend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5"/>
          <p:cNvSpPr/>
          <p:nvPr/>
        </p:nvSpPr>
        <p:spPr>
          <a:xfrm>
            <a:off x="3403080" y="2644200"/>
            <a:ext cx="1634400" cy="619920"/>
          </a:xfrm>
          <a:prstGeom prst="roundRect">
            <a:avLst>
              <a:gd name="adj" fmla="val 16667"/>
            </a:avLst>
          </a:prstGeom>
          <a:blipFill rotWithShape="0">
            <a:blip r:embed="rId1"/>
            <a:stretch>
              <a:fillRect l="0" t="19565" r="0" b="22876"/>
            </a:stretch>
          </a:blipFill>
          <a:ln>
            <a:solidFill>
              <a:schemeClr val="tx1"/>
            </a:solidFill>
          </a:ln>
          <a:effectLst>
            <a:outerShdw algn="tl" blurRad="152400" dir="868217" dist="11525" kx="110000" ky="200000" rotWithShape="0" sy="98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PRINCIPALES CARACTERÍSTICAS: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SPA: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Single Page Application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324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Multiplataforma: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Aplicaciones Web, Aplicaciones nativas, Aplicaciones de escritorio.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Patrón MVC o MV*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Typescript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Plantillas HTML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(Template)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Angular CLI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Testing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integrado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Animaciones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323640">
              <a:lnSpc>
                <a:spcPct val="100000"/>
              </a:lnSpc>
              <a:spcAft>
                <a:spcPts val="601"/>
              </a:spcAft>
              <a:buClr>
                <a:srgbClr val="d6fb47"/>
              </a:buClr>
              <a:buFont typeface="Wingdings" charset="2"/>
              <a:buChar char=""/>
            </a:pP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Accesibilidad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Imagen 5" descr=""/>
          <p:cNvPicPr/>
          <p:nvPr/>
        </p:nvPicPr>
        <p:blipFill>
          <a:blip r:embed="rId1"/>
          <a:srcRect l="0" t="8890" r="0" b="0"/>
        </p:blipFill>
        <p:spPr>
          <a:xfrm>
            <a:off x="3829320" y="3284280"/>
            <a:ext cx="3982680" cy="2231640"/>
          </a:xfrm>
          <a:prstGeom prst="rect">
            <a:avLst/>
          </a:prstGeom>
          <a:ln w="1260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6" descr="Resultado de imagen de spa single page application"/>
          <p:cNvPicPr/>
          <p:nvPr/>
        </p:nvPicPr>
        <p:blipFill>
          <a:blip r:embed="rId1"/>
          <a:stretch/>
        </p:blipFill>
        <p:spPr>
          <a:xfrm>
            <a:off x="2454480" y="3834000"/>
            <a:ext cx="3531960" cy="2129040"/>
          </a:xfrm>
          <a:prstGeom prst="rect">
            <a:avLst/>
          </a:prstGeom>
          <a:ln>
            <a:noFill/>
          </a:ln>
        </p:spPr>
      </p:pic>
      <p:sp>
        <p:nvSpPr>
          <p:cNvPr id="12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ES UNA SPA?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Una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single-page web application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(en adelante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SPA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), es una aplicación web que se ejecuta completamente en una única página web, con el objetivo de proporcionar una experiencia más fluida y similar a la que nos encontraríamos en una aplicación de escritorio.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3" name="Picture 4" descr="Resultado de imagen de spa single page application"/>
          <p:cNvPicPr/>
          <p:nvPr/>
        </p:nvPicPr>
        <p:blipFill>
          <a:blip r:embed="rId2"/>
          <a:srcRect l="2869" t="3512" r="2541" b="5917"/>
          <a:stretch/>
        </p:blipFill>
        <p:spPr>
          <a:xfrm>
            <a:off x="2047680" y="3727440"/>
            <a:ext cx="4345200" cy="23072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134" name="Imagen 11" descr=""/>
          <p:cNvPicPr/>
          <p:nvPr/>
        </p:nvPicPr>
        <p:blipFill>
          <a:blip r:embed="rId3"/>
          <a:srcRect l="2064" t="3864" r="1931" b="4191"/>
          <a:stretch/>
        </p:blipFill>
        <p:spPr>
          <a:xfrm>
            <a:off x="2047680" y="3727440"/>
            <a:ext cx="4423680" cy="23421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PATRÓN DE ARQUITECTURA DE SOFTWARE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El modelo angular actual es: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Model, View, ViewModel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8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9" name="Picture 4" descr="MVVMPattern.png"/>
          <p:cNvPicPr/>
          <p:nvPr/>
        </p:nvPicPr>
        <p:blipFill>
          <a:blip r:embed="rId1"/>
          <a:stretch/>
        </p:blipFill>
        <p:spPr>
          <a:xfrm>
            <a:off x="744480" y="2988000"/>
            <a:ext cx="7067520" cy="2234880"/>
          </a:xfrm>
          <a:prstGeom prst="rect">
            <a:avLst/>
          </a:prstGeom>
          <a:ln>
            <a:noFill/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PATRÓN DE ARQUITECTURA DE SOFTWARE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Model (modelo)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representa la estructura de datos que utilizará la información que pasará a la vista.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View (vista, plantilla o template)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representa la información a través de los elementos visuales que la componen, es decir, es quien renderiza la información almacenada en el modelo.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ViewModel (controlador)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implementa la lógica de negocio (comportamiento) de la vista para responder a las acciones del usuario. Expone los datos del modelo para que sea fácil usar bindings en la vista.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ANGULAR CLI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Es un interprete de línea de comandos que nos facilita el inicio de proyectos Angular con la creación de un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scaffolding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(esqueleto) y con la posibilidad de crear diferentes elementos de Angular.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Se trata de una herramienta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NodeJS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por lo que necesitaremos tenerlo instalado además del gestor de paquetes NPM.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 parte de arrancar un nuevo proyecto, podemos generar: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Componentes, Directivas, Pipes, Servicios, Clases, Guard, Interface, Enum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y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Módulos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6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8" name="Imagen 6" descr=""/>
          <p:cNvPicPr/>
          <p:nvPr/>
        </p:nvPicPr>
        <p:blipFill>
          <a:blip r:embed="rId1"/>
          <a:stretch/>
        </p:blipFill>
        <p:spPr>
          <a:xfrm>
            <a:off x="2853360" y="3270240"/>
            <a:ext cx="2733840" cy="791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 Básico – Taller 0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1547640" y="3558600"/>
            <a:ext cx="5994360" cy="124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Entorno de desarrollo, instalación y creación del proyecto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NECESITAMOS?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Windows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Linux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o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mac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.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Editor de texto: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Visual Studio Code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Sublime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Atom</a:t>
            </a: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Consola: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CMD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CMDer</a:t>
            </a:r>
            <a:r>
              <a:rPr b="1" i="1" lang="es-ES" sz="2400" spc="-1" strike="noStrike">
                <a:solidFill>
                  <a:srgbClr val="e8f3d4"/>
                </a:solidFill>
                <a:latin typeface="Calibri"/>
                <a:ea typeface="Segoe UI Black"/>
              </a:rPr>
              <a:t>.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Navegador: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Chrome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Firefox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,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Edge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Gestor de paquetes: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NPM</a:t>
            </a:r>
            <a:r>
              <a:rPr b="0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(NodeJS):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Segoe UI Black"/>
              </a:rPr>
              <a:t>Herramienta de comandos: </a:t>
            </a:r>
            <a:r>
              <a:rPr b="1" i="1" lang="es-ES" sz="2400" spc="-1" strike="noStrike">
                <a:solidFill>
                  <a:srgbClr val="d6fb47"/>
                </a:solidFill>
                <a:latin typeface="Calibri"/>
                <a:ea typeface="Segoe UI Black"/>
              </a:rPr>
              <a:t>angular-cli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4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Picture 4" descr="Resultado de imagen de ANGULAR TOOLS"/>
          <p:cNvPicPr/>
          <p:nvPr/>
        </p:nvPicPr>
        <p:blipFill>
          <a:blip r:embed="rId1"/>
          <a:stretch/>
        </p:blipFill>
        <p:spPr>
          <a:xfrm>
            <a:off x="2093040" y="5036400"/>
            <a:ext cx="4254840" cy="10756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INSTALACIÓN DE HERRAMIENTAS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Visual Studio Code</a:t>
            </a:r>
            <a:r>
              <a:rPr b="1" lang="es-ES" sz="20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https://code.visualstudio.com/docs/?dv=win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Chrome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2"/>
              </a:rPr>
              <a:t>https://www.google.es/chrome/browser/desktop/index.html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NPM (NodeJS)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 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3"/>
              </a:rPr>
              <a:t>https://nodejs.org/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Angular-cli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Entramos en la consola y escribimos: </a:t>
            </a:r>
            <a:r>
              <a:rPr b="1" lang="es-ES" sz="1800" spc="-1" strike="noStrike">
                <a:solidFill>
                  <a:srgbClr val="d6fb47"/>
                </a:solidFill>
                <a:latin typeface="Consolas"/>
                <a:ea typeface="Segoe UI Black"/>
              </a:rPr>
              <a:t>npm install –g @angular/cli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9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CREANDO UN WORKSPACE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Calibri Light"/>
              <a:buAutoNum type="arabicPeriod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Es necesario ubicarse en el directorio donde queremos generar el proyectos mediante consola.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Calibri Light"/>
              <a:buAutoNum type="arabicPeriod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Luego creamos nuestro proyecto haciendo uso de angular-cli: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ng new name-app --routing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Calibri Light"/>
              <a:buAutoNum type="arabicPeriod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Ejecutamos el instalador de paquetes: </a:t>
            </a:r>
            <a:r>
              <a:rPr b="1" lang="es-ES" sz="1800" spc="-1" strike="noStrike">
                <a:solidFill>
                  <a:srgbClr val="d6fb47"/>
                </a:solidFill>
                <a:latin typeface="Consolas"/>
                <a:ea typeface="Segoe UI Black"/>
              </a:rPr>
              <a:t>npm install </a:t>
            </a: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(dentro de la carpeta generada con el nombre del proyecto)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Calibri Light"/>
              <a:buAutoNum type="arabicPeriod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Lanzamos el servidor: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ng serve --o </a:t>
            </a:r>
            <a:r>
              <a:rPr b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(abrirá nueva pestaña)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o </a:t>
            </a:r>
            <a:r>
              <a:rPr b="1" lang="es-ES" sz="1800" spc="-1" strike="noStrike">
                <a:solidFill>
                  <a:srgbClr val="d6fb47"/>
                </a:solidFill>
                <a:latin typeface="Consolas"/>
                <a:ea typeface="Segoe UI Black"/>
              </a:rPr>
              <a:t>npm start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Calibri Light"/>
              <a:buAutoNum type="arabicPeriod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Abrimos el navegador y escribimos: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localhost:4200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	</a:t>
            </a:r>
            <a:r>
              <a:rPr b="0" i="1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Si no funciona, aplicar proxy: </a:t>
            </a:r>
            <a:r>
              <a:rPr b="1" lang="es-ES" sz="1400" spc="-1" strike="noStrike">
                <a:solidFill>
                  <a:srgbClr val="d6fb47"/>
                </a:solidFill>
                <a:latin typeface="Segoe UI"/>
                <a:ea typeface="Segoe UI Black"/>
              </a:rPr>
              <a:t>https://bit.ly/2uTICD5 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4" name="Imagen 4" descr=""/>
          <p:cNvPicPr/>
          <p:nvPr/>
        </p:nvPicPr>
        <p:blipFill>
          <a:blip r:embed="rId1"/>
          <a:srcRect l="0" t="0" r="6413" b="0"/>
          <a:stretch/>
        </p:blipFill>
        <p:spPr>
          <a:xfrm>
            <a:off x="628560" y="5439600"/>
            <a:ext cx="5411520" cy="737280"/>
          </a:xfrm>
          <a:prstGeom prst="rect">
            <a:avLst/>
          </a:prstGeom>
          <a:ln>
            <a:noFill/>
          </a:ln>
        </p:spPr>
      </p:pic>
      <p:pic>
        <p:nvPicPr>
          <p:cNvPr id="165" name="Imagen 6" descr=""/>
          <p:cNvPicPr/>
          <p:nvPr/>
        </p:nvPicPr>
        <p:blipFill>
          <a:blip r:embed="rId2"/>
          <a:srcRect l="0" t="0" r="35549" b="42262"/>
          <a:stretch/>
        </p:blipFill>
        <p:spPr>
          <a:xfrm>
            <a:off x="6300720" y="5124960"/>
            <a:ext cx="2273760" cy="1051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ESTRUCTURA GENERADA POR ANGULAR-CLI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9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0" name="Imagen 4" descr=""/>
          <p:cNvPicPr/>
          <p:nvPr/>
        </p:nvPicPr>
        <p:blipFill>
          <a:blip r:embed="rId1"/>
          <a:stretch/>
        </p:blipFill>
        <p:spPr>
          <a:xfrm>
            <a:off x="3305520" y="2207880"/>
            <a:ext cx="2508480" cy="4067280"/>
          </a:xfrm>
          <a:prstGeom prst="rect">
            <a:avLst/>
          </a:prstGeom>
          <a:ln>
            <a:noFill/>
          </a:ln>
        </p:spPr>
      </p:pic>
      <p:sp>
        <p:nvSpPr>
          <p:cNvPr id="171" name="CustomShape 5"/>
          <p:cNvSpPr/>
          <p:nvPr/>
        </p:nvSpPr>
        <p:spPr>
          <a:xfrm>
            <a:off x="6750360" y="2640600"/>
            <a:ext cx="1279800" cy="3175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600" spc="-1" strike="noStrike">
                <a:solidFill>
                  <a:srgbClr val="dbefd4"/>
                </a:solidFill>
                <a:latin typeface="Calibri"/>
              </a:rPr>
              <a:t>Componentes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172" name="CustomShape 6"/>
          <p:cNvSpPr/>
          <p:nvPr/>
        </p:nvSpPr>
        <p:spPr>
          <a:xfrm>
            <a:off x="706320" y="2277000"/>
            <a:ext cx="1201320" cy="522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Dependencias 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del proyecto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73" name="CustomShape 7"/>
          <p:cNvSpPr/>
          <p:nvPr/>
        </p:nvSpPr>
        <p:spPr>
          <a:xfrm>
            <a:off x="628560" y="4245480"/>
            <a:ext cx="1217880" cy="3175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App Bootstrap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74" name="CustomShape 8"/>
          <p:cNvSpPr/>
          <p:nvPr/>
        </p:nvSpPr>
        <p:spPr>
          <a:xfrm>
            <a:off x="6750360" y="4034160"/>
            <a:ext cx="1044720" cy="3175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600" spc="-1" strike="noStrike">
                <a:solidFill>
                  <a:srgbClr val="dbefd4"/>
                </a:solidFill>
                <a:latin typeface="Calibri"/>
              </a:rPr>
              <a:t>Index.html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175" name="CustomShape 9"/>
          <p:cNvSpPr/>
          <p:nvPr/>
        </p:nvSpPr>
        <p:spPr>
          <a:xfrm flipH="1">
            <a:off x="5633640" y="2799360"/>
            <a:ext cx="1115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CustomShape 10"/>
          <p:cNvSpPr/>
          <p:nvPr/>
        </p:nvSpPr>
        <p:spPr>
          <a:xfrm>
            <a:off x="1908360" y="2538360"/>
            <a:ext cx="1487880" cy="1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CustomShape 11"/>
          <p:cNvSpPr/>
          <p:nvPr/>
        </p:nvSpPr>
        <p:spPr>
          <a:xfrm>
            <a:off x="1846800" y="4413240"/>
            <a:ext cx="1559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12"/>
          <p:cNvSpPr/>
          <p:nvPr/>
        </p:nvSpPr>
        <p:spPr>
          <a:xfrm flipH="1" flipV="1">
            <a:off x="3970440" y="4174200"/>
            <a:ext cx="2778840" cy="1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El angular.json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Este archivo contiene la configuración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todo el proyecto e incluye, para facilitar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el desarrollo, la administración de: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diferentes entornos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Pruebas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proxy,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recursos de terceros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desarrollar nuestra aplicación.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2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3" name="Imagen 9" descr=""/>
          <p:cNvPicPr/>
          <p:nvPr/>
        </p:nvPicPr>
        <p:blipFill>
          <a:blip r:embed="rId1"/>
          <a:srcRect l="0" t="0" r="57686" b="34824"/>
          <a:stretch/>
        </p:blipFill>
        <p:spPr>
          <a:xfrm>
            <a:off x="1041840" y="4478760"/>
            <a:ext cx="1443240" cy="1405440"/>
          </a:xfrm>
          <a:prstGeom prst="rect">
            <a:avLst/>
          </a:prstGeom>
          <a:ln>
            <a:noFill/>
          </a:ln>
        </p:spPr>
      </p:pic>
      <p:sp>
        <p:nvSpPr>
          <p:cNvPr id="184" name="CustomShape 5"/>
          <p:cNvSpPr/>
          <p:nvPr/>
        </p:nvSpPr>
        <p:spPr>
          <a:xfrm>
            <a:off x="628560" y="5884560"/>
            <a:ext cx="5855760" cy="62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Mas información en: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 u="sng">
                <a:solidFill>
                  <a:srgbClr val="6b9f25"/>
                </a:solidFill>
                <a:uFillTx/>
                <a:latin typeface="Calibri"/>
                <a:hlinkClick r:id="rId2"/>
              </a:rPr>
              <a:t>https://nitayneeman.com/posts/understanding-the-angular-cli-workspace-file/</a:t>
            </a:r>
            <a:endParaRPr b="0" lang="es-ES" sz="1400" spc="-1" strike="noStrike">
              <a:latin typeface="Arial"/>
            </a:endParaRPr>
          </a:p>
        </p:txBody>
      </p:sp>
      <p:pic>
        <p:nvPicPr>
          <p:cNvPr id="185" name="Marcador de contenido 6" descr=""/>
          <p:cNvPicPr/>
          <p:nvPr/>
        </p:nvPicPr>
        <p:blipFill>
          <a:blip r:embed="rId3"/>
          <a:srcRect l="0" t="2551" r="8671" b="3416"/>
          <a:stretch/>
        </p:blipFill>
        <p:spPr>
          <a:xfrm>
            <a:off x="4534200" y="1745640"/>
            <a:ext cx="3901320" cy="4294440"/>
          </a:xfrm>
          <a:prstGeom prst="rect">
            <a:avLst/>
          </a:prstGeom>
          <a:ln>
            <a:noFill/>
          </a:ln>
        </p:spPr>
      </p:pic>
      <p:sp>
        <p:nvSpPr>
          <p:cNvPr id="186" name="CustomShape 6"/>
          <p:cNvSpPr/>
          <p:nvPr/>
        </p:nvSpPr>
        <p:spPr>
          <a:xfrm flipV="1">
            <a:off x="1913040" y="5319720"/>
            <a:ext cx="2620800" cy="82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tailEnd len="med" type="triangle" w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60" dur="indefinite" restart="never" nodeType="tmRoot">
          <p:childTnLst>
            <p:seq>
              <p:cTn id="61" dur="indefinite" nodeType="mainSeq">
                <p:childTnLst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4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Template inicial y punto de entrada de nuestra aplicación angular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Index.html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0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1" name="Imagen 6" descr=""/>
          <p:cNvPicPr/>
          <p:nvPr/>
        </p:nvPicPr>
        <p:blipFill>
          <a:blip r:embed="rId1"/>
          <a:stretch/>
        </p:blipFill>
        <p:spPr>
          <a:xfrm>
            <a:off x="719640" y="2684880"/>
            <a:ext cx="5962320" cy="293328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Dependencias y scripts de un proyecto Angular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Package.json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5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6" name="Imagen 4" descr=""/>
          <p:cNvPicPr/>
          <p:nvPr/>
        </p:nvPicPr>
        <p:blipFill>
          <a:blip r:embed="rId1"/>
          <a:stretch/>
        </p:blipFill>
        <p:spPr>
          <a:xfrm>
            <a:off x="5496840" y="1241280"/>
            <a:ext cx="2492280" cy="521172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97" name="CustomShape 5"/>
          <p:cNvSpPr/>
          <p:nvPr/>
        </p:nvSpPr>
        <p:spPr>
          <a:xfrm>
            <a:off x="2723760" y="2229120"/>
            <a:ext cx="1284120" cy="4568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Scripts de NPM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98" name="CustomShape 6"/>
          <p:cNvSpPr/>
          <p:nvPr/>
        </p:nvSpPr>
        <p:spPr>
          <a:xfrm>
            <a:off x="2003040" y="3305520"/>
            <a:ext cx="2004840" cy="4568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Dependencias de Angular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99" name="CustomShape 7"/>
          <p:cNvSpPr/>
          <p:nvPr/>
        </p:nvSpPr>
        <p:spPr>
          <a:xfrm>
            <a:off x="1808280" y="4468320"/>
            <a:ext cx="2199600" cy="6156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Dependencias de desarrollo</a:t>
            </a:r>
            <a:endParaRPr b="0" lang="es-ES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befd4"/>
                </a:solidFill>
                <a:latin typeface="Calibri"/>
              </a:rPr>
              <a:t>en Angular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200" name="CustomShape 8"/>
          <p:cNvSpPr/>
          <p:nvPr/>
        </p:nvSpPr>
        <p:spPr>
          <a:xfrm flipV="1">
            <a:off x="4008240" y="2142360"/>
            <a:ext cx="1638360" cy="31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" name="CustomShape 9"/>
          <p:cNvSpPr/>
          <p:nvPr/>
        </p:nvSpPr>
        <p:spPr>
          <a:xfrm flipV="1">
            <a:off x="4008240" y="3528000"/>
            <a:ext cx="1638360" cy="5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" name="CustomShape 10"/>
          <p:cNvSpPr/>
          <p:nvPr/>
        </p:nvSpPr>
        <p:spPr>
          <a:xfrm>
            <a:off x="4008240" y="4776120"/>
            <a:ext cx="1638360" cy="63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MÓDULO RAÍZ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Toda aplicación Angular </a:t>
            </a:r>
            <a:r>
              <a:rPr b="0" lang="es-ES" sz="1800" spc="-1" strike="noStrike" u="sng">
                <a:solidFill>
                  <a:srgbClr val="ffffff"/>
                </a:solidFill>
                <a:uFillTx/>
                <a:latin typeface="Calibri"/>
                <a:ea typeface="Segoe UI Black"/>
              </a:rPr>
              <a:t>necesita un módulo raíz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para funcionar.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6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n 4" descr=""/>
          <p:cNvPicPr/>
          <p:nvPr/>
        </p:nvPicPr>
        <p:blipFill>
          <a:blip r:embed="rId1"/>
          <a:stretch/>
        </p:blipFill>
        <p:spPr>
          <a:xfrm>
            <a:off x="2246400" y="2813040"/>
            <a:ext cx="3947760" cy="295236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MÓDULO RAÍZ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En el archivo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main.ts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se especifica el módulo raíz, por defecto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AppModule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0" y="2813040"/>
            <a:ext cx="9140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2" name="Imagen 5" descr=""/>
          <p:cNvPicPr/>
          <p:nvPr/>
        </p:nvPicPr>
        <p:blipFill>
          <a:blip r:embed="rId1"/>
          <a:stretch/>
        </p:blipFill>
        <p:spPr>
          <a:xfrm>
            <a:off x="1542960" y="2774160"/>
            <a:ext cx="5638320" cy="22381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DIRECTIVAS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Las directivas en Angular son marcadores que apuntan a un elemento del DOM y le aportan nuevas características, comportamiento, funcionalidades, fragmentos de código HTML, etc. En definitiva, nos permiten extender nuestro HTML.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16" name="Imagen 7" descr="directivas_social.jpg"/>
          <p:cNvPicPr/>
          <p:nvPr/>
        </p:nvPicPr>
        <p:blipFill>
          <a:blip r:embed="rId1"/>
          <a:stretch/>
        </p:blipFill>
        <p:spPr>
          <a:xfrm>
            <a:off x="2021040" y="3134880"/>
            <a:ext cx="4398840" cy="2609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8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TIPOS DE DIRECTIVAS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Componentes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Sustituye los elementos del DOM: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	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directivas con template y selector.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	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Ej. </a:t>
            </a:r>
            <a:r>
              <a:rPr b="0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&lt;app-header&gt;&lt;/app-header&gt;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Estructurales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Comienza por *, alteran los elementos del DOM: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43704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450" spc="-1" strike="noStrike">
                <a:solidFill>
                  <a:srgbClr val="d6fb47"/>
                </a:solidFill>
                <a:latin typeface="Calibri"/>
                <a:ea typeface="Segoe UI Black"/>
              </a:rPr>
              <a:t>ngFor</a:t>
            </a:r>
            <a:r>
              <a:rPr b="0" lang="es-ES" sz="1450" spc="-1" strike="noStrike" u="sng">
                <a:solidFill>
                  <a:srgbClr val="d6fb47"/>
                </a:solidFill>
                <a:uFillTx/>
                <a:latin typeface="Calibri"/>
                <a:ea typeface="Segoe UI Black"/>
              </a:rPr>
              <a:t>:</a:t>
            </a:r>
            <a:r>
              <a:rPr b="0" lang="es-ES" sz="1450" spc="-1" strike="noStrike">
                <a:solidFill>
                  <a:srgbClr val="c00000"/>
                </a:solidFill>
                <a:latin typeface="Calibri"/>
                <a:ea typeface="Segoe UI Black"/>
              </a:rPr>
              <a:t> </a:t>
            </a:r>
            <a:r>
              <a:rPr b="0" lang="es-ES" sz="1250" spc="-1" strike="noStrike">
                <a:solidFill>
                  <a:srgbClr val="ffffff"/>
                </a:solidFill>
                <a:latin typeface="Calibri"/>
                <a:ea typeface="Segoe UI Black"/>
              </a:rPr>
              <a:t>Nos permite iterar sobre una lista.</a:t>
            </a: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 lvl="1" marL="43704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450" spc="-1" strike="noStrike">
                <a:solidFill>
                  <a:srgbClr val="d6fb47"/>
                </a:solidFill>
                <a:latin typeface="Calibri"/>
                <a:ea typeface="Segoe UI Black"/>
              </a:rPr>
              <a:t>ngIf</a:t>
            </a:r>
            <a:r>
              <a:rPr b="0" lang="es-ES" sz="1450" spc="-1" strike="noStrike">
                <a:solidFill>
                  <a:srgbClr val="d6fb47"/>
                </a:solidFill>
                <a:latin typeface="Calibri"/>
                <a:ea typeface="Segoe UI Black"/>
              </a:rPr>
              <a:t>:</a:t>
            </a:r>
            <a:r>
              <a:rPr b="1" lang="es-ES" sz="1450" spc="-1" strike="noStrike">
                <a:solidFill>
                  <a:srgbClr val="c00000"/>
                </a:solidFill>
                <a:latin typeface="Calibri"/>
                <a:ea typeface="Segoe UI Black"/>
              </a:rPr>
              <a:t> </a:t>
            </a:r>
            <a:r>
              <a:rPr b="0" lang="es-ES" sz="1250" spc="-1" strike="noStrike">
                <a:solidFill>
                  <a:srgbClr val="ffffff"/>
                </a:solidFill>
                <a:latin typeface="Calibri"/>
                <a:ea typeface="Segoe UI Black"/>
              </a:rPr>
              <a:t>Pinta o no el elemento HTML donde se aplica según el valor de la expresión que contenta.</a:t>
            </a: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 lvl="1" marL="43704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450" spc="-1" strike="noStrike">
                <a:solidFill>
                  <a:srgbClr val="d6fb47"/>
                </a:solidFill>
                <a:latin typeface="Calibri"/>
                <a:ea typeface="Segoe UI Black"/>
              </a:rPr>
              <a:t>ngSwitch</a:t>
            </a:r>
            <a:r>
              <a:rPr b="0" lang="es-ES" sz="1450" spc="-1" strike="noStrike">
                <a:solidFill>
                  <a:srgbClr val="d6fb47"/>
                </a:solidFill>
                <a:latin typeface="Calibri"/>
                <a:ea typeface="Segoe UI Black"/>
              </a:rPr>
              <a:t>:</a:t>
            </a:r>
            <a:r>
              <a:rPr b="1" lang="es-ES" sz="1450" spc="-1" strike="noStrike">
                <a:solidFill>
                  <a:srgbClr val="c00000"/>
                </a:solidFill>
                <a:latin typeface="Calibri"/>
                <a:ea typeface="Segoe UI Black"/>
              </a:rPr>
              <a:t> </a:t>
            </a:r>
            <a:r>
              <a:rPr b="0" lang="es-ES" sz="1250" spc="-1" strike="noStrike">
                <a:solidFill>
                  <a:srgbClr val="ffffff"/>
                </a:solidFill>
                <a:latin typeface="Calibri"/>
                <a:ea typeface="Segoe UI Black"/>
              </a:rPr>
              <a:t>Nos permite hacer una condición múltiple.</a:t>
            </a: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	</a:t>
            </a:r>
            <a:r>
              <a:rPr b="0" lang="es-ES" sz="1250" spc="-1" strike="noStrike">
                <a:solidFill>
                  <a:srgbClr val="ffffff"/>
                </a:solidFill>
                <a:latin typeface="Calibri"/>
                <a:ea typeface="Segoe UI Black"/>
              </a:rPr>
              <a:t>Ej. </a:t>
            </a:r>
            <a:r>
              <a:rPr b="1" lang="es-ES" sz="1250" spc="-1" strike="noStrike">
                <a:solidFill>
                  <a:srgbClr val="d6fb47"/>
                </a:solidFill>
                <a:latin typeface="Calibri"/>
                <a:ea typeface="Segoe UI Black"/>
              </a:rPr>
              <a:t>&lt;p *ngIf="isVisible"&gt;Lorem ipsum&lt;/p&gt;</a:t>
            </a: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25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Atributo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Cambia la apariencia o comportamiento de un elemento DOM: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	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ngClass, ngStyle, ngModel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	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Ej.</a:t>
            </a:r>
            <a:r>
              <a:rPr b="0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 &lt;p [ngClass]="{'error' : isError}"&gt;Lorem ipsum&lt;/p&gt;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¿Qué es?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564"/>
              </a:spcBef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El Binding es la capacidad de comunicar entre distintos contextos, no es más que enlazar la información que tenemos en el modelo del controlador con lo que mostramos en el HTML.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3" name="CustomShape 4"/>
          <p:cNvSpPr/>
          <p:nvPr/>
        </p:nvSpPr>
        <p:spPr>
          <a:xfrm>
            <a:off x="2042640" y="2271600"/>
            <a:ext cx="4355280" cy="1860480"/>
          </a:xfrm>
          <a:prstGeom prst="roundRect">
            <a:avLst>
              <a:gd name="adj" fmla="val 16667"/>
            </a:avLst>
          </a:prstGeom>
          <a:blipFill rotWithShape="0">
            <a:blip r:embed="rId1"/>
            <a:stretch>
              <a:fillRect/>
            </a:stretch>
          </a:blipFill>
          <a:ln>
            <a:noFill/>
          </a:ln>
          <a:effectLst>
            <a:outerShdw algn="tl" blurRad="7620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ONE-WAY 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Se trata de enlazar datos entre la vista y el modelo en una sola dirección. Si se modifica el modelo se actualiza la vista.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6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2006640" y="2946240"/>
            <a:ext cx="4419720" cy="2451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TWO-WAY 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Angular tiene la capacidad además de realizar el llamado </a:t>
            </a: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doble binding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, que se trata de este enlace, pero en ambos sentidos. Si se modifica algo en la vista se modificaría en el modelo y si se modifica el modelo se actualiza la vista.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2006640" y="3276720"/>
            <a:ext cx="4419720" cy="2286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Interpolación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Enlace a propiedades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35" name="Imagen 6" descr=""/>
          <p:cNvPicPr/>
          <p:nvPr/>
        </p:nvPicPr>
        <p:blipFill>
          <a:blip r:embed="rId1"/>
          <a:stretch/>
        </p:blipFill>
        <p:spPr>
          <a:xfrm>
            <a:off x="1758240" y="2692440"/>
            <a:ext cx="4924080" cy="611640"/>
          </a:xfrm>
          <a:prstGeom prst="rect">
            <a:avLst/>
          </a:prstGeom>
          <a:ln>
            <a:noFill/>
          </a:ln>
        </p:spPr>
      </p:pic>
      <p:pic>
        <p:nvPicPr>
          <p:cNvPr id="236" name="Imagen 7" descr=""/>
          <p:cNvPicPr/>
          <p:nvPr/>
        </p:nvPicPr>
        <p:blipFill>
          <a:blip r:embed="rId2"/>
          <a:stretch/>
        </p:blipFill>
        <p:spPr>
          <a:xfrm>
            <a:off x="860760" y="4071960"/>
            <a:ext cx="6951240" cy="928080"/>
          </a:xfrm>
          <a:prstGeom prst="rect">
            <a:avLst/>
          </a:prstGeom>
          <a:ln>
            <a:noFill/>
          </a:ln>
        </p:spPr>
      </p:pic>
      <p:sp>
        <p:nvSpPr>
          <p:cNvPr id="237" name="CustomShape 4"/>
          <p:cNvSpPr/>
          <p:nvPr/>
        </p:nvSpPr>
        <p:spPr>
          <a:xfrm>
            <a:off x="1662120" y="5489640"/>
            <a:ext cx="53488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hlinkClick r:id="rId3"/>
              </a:rPr>
              <a:t>https://angular.io/guide/security#sanitization-example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Eventos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Lectura y escritura bidireccional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41" name="Imagen 8" descr=""/>
          <p:cNvPicPr/>
          <p:nvPr/>
        </p:nvPicPr>
        <p:blipFill>
          <a:blip r:embed="rId1"/>
          <a:stretch/>
        </p:blipFill>
        <p:spPr>
          <a:xfrm>
            <a:off x="1647360" y="2532240"/>
            <a:ext cx="5144760" cy="1078560"/>
          </a:xfrm>
          <a:prstGeom prst="rect">
            <a:avLst/>
          </a:prstGeom>
          <a:ln>
            <a:noFill/>
          </a:ln>
        </p:spPr>
      </p:pic>
      <p:pic>
        <p:nvPicPr>
          <p:cNvPr id="242" name="Imagen 9" descr=""/>
          <p:cNvPicPr/>
          <p:nvPr/>
        </p:nvPicPr>
        <p:blipFill>
          <a:blip r:embed="rId2"/>
          <a:stretch/>
        </p:blipFill>
        <p:spPr>
          <a:xfrm>
            <a:off x="1342800" y="4219920"/>
            <a:ext cx="5754600" cy="627840"/>
          </a:xfrm>
          <a:prstGeom prst="rect">
            <a:avLst/>
          </a:prstGeom>
          <a:ln>
            <a:noFill/>
          </a:ln>
        </p:spPr>
      </p:pic>
      <p:sp>
        <p:nvSpPr>
          <p:cNvPr id="243" name="CustomShape 4"/>
          <p:cNvSpPr/>
          <p:nvPr/>
        </p:nvSpPr>
        <p:spPr>
          <a:xfrm>
            <a:off x="520560" y="5069520"/>
            <a:ext cx="8208720" cy="115164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de3a3a"/>
                </a:solidFill>
                <a:latin typeface="Calibri"/>
              </a:rPr>
              <a:t>Nota: El binding como interpolación de llaves es una práctica muy común pero es más recomendable hacerlo mediante la directiva innerHTML:</a:t>
            </a:r>
            <a:br/>
            <a:endParaRPr b="0" lang="es-ES" sz="1800" spc="-1" strike="noStrike">
              <a:latin typeface="Arial"/>
            </a:endParaRPr>
          </a:p>
        </p:txBody>
      </p:sp>
      <p:sp>
        <p:nvSpPr>
          <p:cNvPr id="244" name="CustomShape 5"/>
          <p:cNvSpPr/>
          <p:nvPr/>
        </p:nvSpPr>
        <p:spPr>
          <a:xfrm>
            <a:off x="2605320" y="5829120"/>
            <a:ext cx="3870360" cy="244080"/>
          </a:xfrm>
          <a:prstGeom prst="rect">
            <a:avLst/>
          </a:prstGeom>
          <a:solidFill>
            <a:srgbClr val="eff0f1"/>
          </a:solidFill>
          <a:ln w="2844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7d2727"/>
                </a:solidFill>
                <a:latin typeface="inherit"/>
              </a:rPr>
              <a:t> </a:t>
            </a:r>
            <a:r>
              <a:rPr b="0" lang="es-ES" sz="1600" spc="-1" strike="noStrike">
                <a:solidFill>
                  <a:srgbClr val="7d2727"/>
                </a:solidFill>
                <a:latin typeface="inherit"/>
              </a:rPr>
              <a:t>&lt;div</a:t>
            </a:r>
            <a:r>
              <a:rPr b="0" lang="es-ES" sz="1600" spc="-1" strike="noStrike">
                <a:solidFill>
                  <a:srgbClr val="303336"/>
                </a:solidFill>
                <a:latin typeface="inherit"/>
              </a:rPr>
              <a:t> [</a:t>
            </a:r>
            <a:r>
              <a:rPr b="0" lang="es-ES" sz="1600" spc="-1" strike="noStrike">
                <a:solidFill>
                  <a:srgbClr val="e64320"/>
                </a:solidFill>
                <a:latin typeface="inherit"/>
              </a:rPr>
              <a:t>innerHTML</a:t>
            </a:r>
            <a:r>
              <a:rPr b="0" lang="es-ES" sz="1600" spc="-1" strike="noStrike">
                <a:solidFill>
                  <a:srgbClr val="303336"/>
                </a:solidFill>
                <a:latin typeface="inherit"/>
              </a:rPr>
              <a:t>]=</a:t>
            </a:r>
            <a:r>
              <a:rPr b="0" lang="es-ES" sz="1600" spc="-1" strike="noStrike">
                <a:solidFill>
                  <a:srgbClr val="0f74bd"/>
                </a:solidFill>
                <a:latin typeface="inherit"/>
              </a:rPr>
              <a:t>"theHtmlString"</a:t>
            </a:r>
            <a:r>
              <a:rPr b="0" lang="es-ES" sz="1600" spc="-1" strike="noStrike">
                <a:solidFill>
                  <a:srgbClr val="7d2727"/>
                </a:solidFill>
                <a:latin typeface="inherit"/>
              </a:rPr>
              <a:t>&gt;&lt;/div&gt;</a:t>
            </a:r>
            <a:r>
              <a:rPr b="0" lang="es-ES" sz="11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¿Qué hace este código?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246" name="Group 2"/>
          <p:cNvGrpSpPr/>
          <p:nvPr/>
        </p:nvGrpSpPr>
        <p:grpSpPr>
          <a:xfrm>
            <a:off x="1223640" y="1998720"/>
            <a:ext cx="6696360" cy="4410360"/>
            <a:chOff x="1223640" y="1998720"/>
            <a:chExt cx="6696360" cy="4410360"/>
          </a:xfrm>
        </p:grpSpPr>
        <p:pic>
          <p:nvPicPr>
            <p:cNvPr id="247" name="Imagen 14" descr=""/>
            <p:cNvPicPr/>
            <p:nvPr/>
          </p:nvPicPr>
          <p:blipFill>
            <a:blip r:embed="rId1"/>
            <a:srcRect l="1429" t="2513" r="4633" b="973"/>
            <a:stretch/>
          </p:blipFill>
          <p:spPr>
            <a:xfrm>
              <a:off x="1223640" y="1998720"/>
              <a:ext cx="6696360" cy="4410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8" name="CustomShape 3"/>
            <p:cNvSpPr/>
            <p:nvPr/>
          </p:nvSpPr>
          <p:spPr>
            <a:xfrm>
              <a:off x="2237760" y="5628240"/>
              <a:ext cx="5328360" cy="431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9" name="CustomShape 4"/>
            <p:cNvSpPr/>
            <p:nvPr/>
          </p:nvSpPr>
          <p:spPr>
            <a:xfrm>
              <a:off x="2021760" y="3900240"/>
              <a:ext cx="5328360" cy="431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0" name="CustomShape 5"/>
            <p:cNvSpPr/>
            <p:nvPr/>
          </p:nvSpPr>
          <p:spPr>
            <a:xfrm>
              <a:off x="2454120" y="3407760"/>
              <a:ext cx="5328360" cy="431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51" name="TextShape 6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CustomShape 7"/>
          <p:cNvSpPr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ES UN COMPONENTE?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CARACTERÍSTICAS DE COMPONENTES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Actúa como una “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caja negra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”, podemos usarlo sin conocer como esta desarrollado.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Expone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inputs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y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outputs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Dispone de una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API de configuración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(inputs), eventos y métodos.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Su ciclo de vida no es modificado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en ningún momento por otros componentes o por la misma aplicación.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7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Tienen un único objetivo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y esta totalmente aislado del funcionamiento del resto de componentes.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ES UN COMPONENTE?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ORIENTACION A COMPONENTES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Todas las nuevas tendencias de diseño se orientan a los componentes web, enfocados a la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reusabilidad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y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simplificación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de cada característica de la aplicación.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59" name="Picture 2" descr="Resultado de imagen de componentes"/>
          <p:cNvPicPr/>
          <p:nvPr/>
        </p:nvPicPr>
        <p:blipFill>
          <a:blip r:embed="rId1"/>
          <a:stretch/>
        </p:blipFill>
        <p:spPr>
          <a:xfrm>
            <a:off x="2982240" y="3661920"/>
            <a:ext cx="2476080" cy="1704600"/>
          </a:xfrm>
          <a:prstGeom prst="rect">
            <a:avLst/>
          </a:prstGeom>
          <a:ln cap="sq" w="38160">
            <a:solidFill>
              <a:srgbClr val="000000"/>
            </a:solidFill>
            <a:miter/>
          </a:ln>
          <a:effectLst>
            <a:outerShdw algn="tl" blurRad="50800" dir="2700000" dist="37674" rotWithShape="0">
              <a:srgbClr val="000000">
                <a:alpha val="43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90" dur="indefinite" restart="never" nodeType="tmRoot">
          <p:childTnLst>
            <p:seq>
              <p:cTn id="91" dur="indefinite" nodeType="mainSeq"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after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2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¿QUÉ ES UN COMPONENTE?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FILOSOFIA DE COMPONENTES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Cuando hablamos de componente web parece una tarea fácil, observamos en nuestros requisitos una característica y generamos un componente.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La realidad es que es mucho más difícil, ya que “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componentizar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” correctamente una app requiere una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buena labor de análisis y evaluación de necesidades y riesgos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, a corto y largo plazo. También es importante pensar en los futuros cambios que puede sufrir nuestra app.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COMPONENTES EN ANGULAR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Un componente es una clase estándar de ES6 decorada con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@Component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que controla una zona de espacio de pantalla que podríamos denominar vista.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Define propiedades y métodos que estarán disponibles en su template.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Algunos de los metadatos mas comunes de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@Component</a:t>
            </a:r>
            <a:r>
              <a:rPr b="1" lang="es-ES" sz="1800" spc="-1" strike="noStrike">
                <a:solidFill>
                  <a:srgbClr val="dbefd4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selector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: nombre por el que cargaremos el componente desde la vista.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templateUrl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localización de su vista asociada.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template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nos permite añadir el código html directamente sobre la misma Clase.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styleUrls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Array con urls a archivos de estilos que queremos aplicar a nuestro componente.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COMPONENTES EN ANGULAR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69" name="Imagen 11" descr=""/>
          <p:cNvPicPr/>
          <p:nvPr/>
        </p:nvPicPr>
        <p:blipFill>
          <a:blip r:embed="rId1"/>
          <a:stretch/>
        </p:blipFill>
        <p:spPr>
          <a:xfrm>
            <a:off x="3366720" y="2656800"/>
            <a:ext cx="4445280" cy="24609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70" name="CustomShape 4"/>
          <p:cNvSpPr/>
          <p:nvPr/>
        </p:nvSpPr>
        <p:spPr>
          <a:xfrm>
            <a:off x="2690280" y="3574080"/>
            <a:ext cx="767160" cy="62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71" name="Imagen 10" descr=""/>
          <p:cNvPicPr/>
          <p:nvPr/>
        </p:nvPicPr>
        <p:blipFill>
          <a:blip r:embed="rId2"/>
          <a:stretch/>
        </p:blipFill>
        <p:spPr>
          <a:xfrm>
            <a:off x="628560" y="3574080"/>
            <a:ext cx="2152440" cy="6379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COMUNICACIÓN ENTRE COMPONENTES I (API PÚBLICA)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Atributos</a:t>
            </a:r>
            <a:r>
              <a:rPr b="1" lang="es-ES" sz="16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Los componentes pueden tener atributos, tanto de entrada como de salida.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@Input(): </a:t>
            </a:r>
            <a:r>
              <a:rPr b="0" lang="es-ES" sz="1600" spc="-1" strike="noStrike" u="sng">
                <a:solidFill>
                  <a:srgbClr val="ffffff"/>
                </a:solidFill>
                <a:uFillTx/>
                <a:latin typeface="Calibri"/>
                <a:ea typeface="Segoe UI Black"/>
              </a:rPr>
              <a:t>Parámetro de entrada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75" name="Imagen 6" descr=""/>
          <p:cNvPicPr/>
          <p:nvPr/>
        </p:nvPicPr>
        <p:blipFill>
          <a:blip r:embed="rId1"/>
          <a:stretch/>
        </p:blipFill>
        <p:spPr>
          <a:xfrm>
            <a:off x="689760" y="3204720"/>
            <a:ext cx="3828960" cy="29718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76" name="Imagen 7" descr=""/>
          <p:cNvPicPr/>
          <p:nvPr/>
        </p:nvPicPr>
        <p:blipFill>
          <a:blip r:embed="rId2"/>
          <a:stretch/>
        </p:blipFill>
        <p:spPr>
          <a:xfrm>
            <a:off x="3278160" y="4791600"/>
            <a:ext cx="4533840" cy="63216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16" dur="indefinite" restart="never" nodeType="tmRoot">
          <p:childTnLst>
            <p:seq>
              <p:cTn id="117" dur="indefinite" nodeType="mainSeq"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8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1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COMUNICACIÓN ENTRE COMPONENTES I (API PÚBLICA)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b="1" lang="es-ES" sz="16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Atributos</a:t>
            </a:r>
            <a:r>
              <a:rPr b="1" lang="es-ES" sz="1600" spc="-1" strike="noStrike">
                <a:solidFill>
                  <a:srgbClr val="c00000"/>
                </a:solidFill>
                <a:latin typeface="Calibri"/>
                <a:ea typeface="Segoe UI Black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Los componentes pueden tener atributos, tanto de entrada como de salida.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@Output(): </a:t>
            </a:r>
            <a:r>
              <a:rPr b="0" lang="es-ES" sz="1600" spc="-1" strike="noStrike" u="sng">
                <a:solidFill>
                  <a:srgbClr val="ffffff"/>
                </a:solidFill>
                <a:uFillTx/>
                <a:latin typeface="Calibri"/>
                <a:ea typeface="Segoe UI Black"/>
              </a:rPr>
              <a:t>Parámetro de salida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80" name="Imagen 8" descr=""/>
          <p:cNvPicPr/>
          <p:nvPr/>
        </p:nvPicPr>
        <p:blipFill>
          <a:blip r:embed="rId1"/>
          <a:stretch/>
        </p:blipFill>
        <p:spPr>
          <a:xfrm>
            <a:off x="715680" y="3204720"/>
            <a:ext cx="3975480" cy="2971800"/>
          </a:xfrm>
          <a:prstGeom prst="rect">
            <a:avLst/>
          </a:prstGeom>
          <a:ln>
            <a:noFill/>
          </a:ln>
        </p:spPr>
      </p:pic>
      <p:pic>
        <p:nvPicPr>
          <p:cNvPr id="281" name="Imagen 9" descr=""/>
          <p:cNvPicPr/>
          <p:nvPr/>
        </p:nvPicPr>
        <p:blipFill>
          <a:blip r:embed="rId2"/>
          <a:stretch/>
        </p:blipFill>
        <p:spPr>
          <a:xfrm>
            <a:off x="2847600" y="4791600"/>
            <a:ext cx="4964400" cy="4946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32" dur="indefinite" restart="never" nodeType="tmRoot">
          <p:childTnLst>
            <p:seq>
              <p:cTn id="133" dur="indefinite" nodeType="mainSeq"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4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7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CICLO DE VIDA DE COMPONENTES (API PRIVADA)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Métodos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5" name="CustomShape 4"/>
          <p:cNvSpPr/>
          <p:nvPr/>
        </p:nvSpPr>
        <p:spPr>
          <a:xfrm>
            <a:off x="628560" y="2586600"/>
            <a:ext cx="3385800" cy="195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indent="180000">
              <a:lnSpc>
                <a:spcPct val="100000"/>
              </a:lnSpc>
              <a:buClr>
                <a:srgbClr val="d6fb47"/>
              </a:buClr>
              <a:buFont typeface="Arial"/>
              <a:buChar char="•"/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</a:rPr>
              <a:t>constructor():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Método constructor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de la clase.</a:t>
            </a:r>
            <a:endParaRPr b="0" lang="es-ES" sz="1600" spc="-1" strike="noStrike">
              <a:latin typeface="Arial"/>
            </a:endParaRPr>
          </a:p>
          <a:p>
            <a:pPr indent="180000">
              <a:lnSpc>
                <a:spcPct val="100000"/>
              </a:lnSpc>
              <a:buClr>
                <a:srgbClr val="d6fb47"/>
              </a:buClr>
              <a:buFont typeface="Arial"/>
              <a:buChar char="•"/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</a:rPr>
              <a:t>ngOnInit():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Se llama al crear el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componente (Ciclo de vida).</a:t>
            </a:r>
            <a:endParaRPr b="0" lang="es-ES" sz="1600" spc="-1" strike="noStrike">
              <a:latin typeface="Arial"/>
            </a:endParaRPr>
          </a:p>
          <a:p>
            <a:pPr indent="180000">
              <a:lnSpc>
                <a:spcPct val="100000"/>
              </a:lnSpc>
              <a:buClr>
                <a:srgbClr val="d6fb47"/>
              </a:buClr>
              <a:buFont typeface="Arial"/>
              <a:buChar char="•"/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</a:rPr>
              <a:t>Personalizados</a:t>
            </a:r>
            <a:r>
              <a:rPr b="1" lang="es-ES" sz="1800" spc="-1" strike="noStrike">
                <a:solidFill>
                  <a:srgbClr val="dbefd4"/>
                </a:solidFill>
                <a:latin typeface="Calibri"/>
              </a:rPr>
              <a:t>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Métodos propios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según nuestras necesidades.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286" name="Imagen 9" descr=""/>
          <p:cNvPicPr/>
          <p:nvPr/>
        </p:nvPicPr>
        <p:blipFill>
          <a:blip r:embed="rId1"/>
          <a:stretch/>
        </p:blipFill>
        <p:spPr>
          <a:xfrm>
            <a:off x="4150800" y="2409480"/>
            <a:ext cx="3661200" cy="273708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Shape 1"/>
          <p:cNvSpPr txBox="1"/>
          <p:nvPr/>
        </p:nvSpPr>
        <p:spPr>
          <a:xfrm>
            <a:off x="628560" y="1609560"/>
            <a:ext cx="461520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CICLO DE VIDA DE COMPONENTES (API PRIVADA)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Estos son los métodos que afectan en el ciclo de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vida de un componente: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El azul (constructor) no es un hook como tal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pero es imprescindible para poder crear instancias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de los componentes.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Los métodos de color rosa, son los que afectan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directamente al componente.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Los métodos amarillos son los que afectan a los componentes hijos de nuestro componente.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  <a:ea typeface="Segoe UI Black"/>
              </a:rPr>
              <a:t>Hagamos un repaso de cada hook…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88" name="Picture 4" descr="https://miro.medium.com/max/1053/0*wEGNC-p9kA91tb8K.png"/>
          <p:cNvPicPr/>
          <p:nvPr/>
        </p:nvPicPr>
        <p:blipFill>
          <a:blip r:embed="rId1"/>
          <a:stretch/>
        </p:blipFill>
        <p:spPr>
          <a:xfrm>
            <a:off x="4769280" y="1867680"/>
            <a:ext cx="4099680" cy="4308840"/>
          </a:xfrm>
          <a:prstGeom prst="rect">
            <a:avLst/>
          </a:prstGeom>
          <a:ln>
            <a:noFill/>
          </a:ln>
        </p:spPr>
      </p:pic>
      <p:sp>
        <p:nvSpPr>
          <p:cNvPr id="289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CICLO DE VIDA DE COMPONENTES 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92" name="Picture 4" descr="https://miro.medium.com/max/1053/0*wEGNC-p9kA91tb8K.png"/>
          <p:cNvPicPr/>
          <p:nvPr/>
        </p:nvPicPr>
        <p:blipFill>
          <a:blip r:embed="rId1"/>
          <a:srcRect l="5703" t="4933" r="12789" b="3341"/>
          <a:stretch/>
        </p:blipFill>
        <p:spPr>
          <a:xfrm>
            <a:off x="3145680" y="2182320"/>
            <a:ext cx="2678040" cy="3167640"/>
          </a:xfrm>
          <a:prstGeom prst="rect">
            <a:avLst/>
          </a:prstGeom>
          <a:ln>
            <a:noFill/>
          </a:ln>
        </p:spPr>
      </p:pic>
      <p:sp>
        <p:nvSpPr>
          <p:cNvPr id="29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5" name="CustomShape 4"/>
          <p:cNvSpPr/>
          <p:nvPr/>
        </p:nvSpPr>
        <p:spPr>
          <a:xfrm>
            <a:off x="2794680" y="2487600"/>
            <a:ext cx="785880" cy="27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d6fb47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5"/>
          <p:cNvSpPr/>
          <p:nvPr/>
        </p:nvSpPr>
        <p:spPr>
          <a:xfrm flipH="1">
            <a:off x="5440320" y="2261880"/>
            <a:ext cx="572400" cy="73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d6fb47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7" name="CustomShape 6"/>
          <p:cNvSpPr/>
          <p:nvPr/>
        </p:nvSpPr>
        <p:spPr>
          <a:xfrm flipH="1" flipV="1">
            <a:off x="5439600" y="3354840"/>
            <a:ext cx="849240" cy="41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d6fb47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8" name="CustomShape 7"/>
          <p:cNvSpPr/>
          <p:nvPr/>
        </p:nvSpPr>
        <p:spPr>
          <a:xfrm>
            <a:off x="2918520" y="5126040"/>
            <a:ext cx="457200" cy="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rgbClr val="d6fb47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9" name="CustomShape 8"/>
          <p:cNvSpPr/>
          <p:nvPr/>
        </p:nvSpPr>
        <p:spPr>
          <a:xfrm>
            <a:off x="628560" y="2045880"/>
            <a:ext cx="2567880" cy="38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ngOnChanges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: Este evento se ejecuta cada vez que se cambia el valor de una propiedad vinculada. Siempre recibe un </a:t>
            </a:r>
            <a:r>
              <a:rPr b="0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change data map 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o mapa de datos de cambio, que contiene el valor actual y anterior de la propiedad vinculada.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ngOnDestroy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: Este método se ejecutará antes de que Angular destruya el componente. Es muy útil para evitar fugas de memoria(observables, event handlers,…).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5812560" y="2045880"/>
            <a:ext cx="2927160" cy="38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ngOnInit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: Se ejecuta cuando el componente ha sido inicializado, una vez que </a:t>
            </a:r>
            <a:r>
              <a:rPr b="0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ngOnChanges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 se haya ejecutado. Este evento es utilizado principalmente para inicializar los datos en el componente.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ngDoCheck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: Se activa cada vez que se verifican las propiedades de un componente y nos permite implementar nuestro algoritmo de detección de cambios personalizado para cualquier componente.</a:t>
            </a:r>
            <a:endParaRPr b="0" lang="es-E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DEFINICIÓN DE MODELOS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No son más que </a:t>
            </a: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Clases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o </a:t>
            </a:r>
            <a:r>
              <a:rPr b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Interfaces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 con las propiedades de los objetos con los que trabajamos en el modelo.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Al traernos una lista del servidor tendrá un </a:t>
            </a: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json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similar a este: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04" name="Imagen 5" descr=""/>
          <p:cNvPicPr/>
          <p:nvPr/>
        </p:nvPicPr>
        <p:blipFill>
          <a:blip r:embed="rId1"/>
          <a:stretch/>
        </p:blipFill>
        <p:spPr>
          <a:xfrm>
            <a:off x="700920" y="2981880"/>
            <a:ext cx="3457080" cy="23047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DEFINICIÓN DE MODELOS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De esta forma generamos una clase o interfaz con esas propiedades: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Dentro de nuestro modelo,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pueden existir 2 tipos de atributos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Campos obligatorio:</a:t>
            </a:r>
            <a:r>
              <a:rPr b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Son aquellos que siempre deben de existir y por lo tanto siempre tendrán valor. </a:t>
            </a:r>
            <a:r>
              <a:rPr b="1" i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Por ejemplo: nombre: string;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Campos no obligatorio: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Son aquellos que pueden no tener valor en un momento concreto de la vida del modelo o puede que el Backend nunca devuelva valores para dicho atributo. </a:t>
            </a:r>
            <a:r>
              <a:rPr b="1" i="1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Por ejemplo: fecha?: string;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08" name="Imagen 4" descr=""/>
          <p:cNvPicPr/>
          <p:nvPr/>
        </p:nvPicPr>
        <p:blipFill>
          <a:blip r:embed="rId1"/>
          <a:stretch/>
        </p:blipFill>
        <p:spPr>
          <a:xfrm>
            <a:off x="723600" y="2629440"/>
            <a:ext cx="1809360" cy="10760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 Básico – Taller 1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TextShape 2"/>
          <p:cNvSpPr txBox="1"/>
          <p:nvPr/>
        </p:nvSpPr>
        <p:spPr>
          <a:xfrm>
            <a:off x="1547640" y="3558600"/>
            <a:ext cx="5994360" cy="124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Componentes y Data Binding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Un poco de estilo: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4" name="CustomShape 4"/>
          <p:cNvSpPr/>
          <p:nvPr/>
        </p:nvSpPr>
        <p:spPr>
          <a:xfrm>
            <a:off x="378360" y="5082840"/>
            <a:ext cx="8208720" cy="115164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de3a3a"/>
                </a:solidFill>
                <a:latin typeface="Calibri"/>
              </a:rPr>
              <a:t>Nota: Esto no es buena práctica en general para proyectos reales, solo lo usaremos durante esta formación.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315" name="CustomShape 5"/>
          <p:cNvSpPr/>
          <p:nvPr/>
        </p:nvSpPr>
        <p:spPr>
          <a:xfrm>
            <a:off x="628560" y="2052720"/>
            <a:ext cx="7708320" cy="197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Para que nuestros componentes tengan un poco de estilo, vamos a añadir la CSS de Bootstrap en nuestra página para hacer pruebas.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Añadimos en nuestro index.html el siguiente enlace: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  <a:p>
            <a:pPr marL="343080">
              <a:lnSpc>
                <a:spcPct val="90000"/>
              </a:lnSpc>
              <a:spcBef>
                <a:spcPts val="281"/>
              </a:spcBef>
            </a:pPr>
            <a:r>
              <a:rPr b="0" lang="es-ES" sz="1350" spc="-1" strike="noStrike">
                <a:solidFill>
                  <a:srgbClr val="d6fb47"/>
                </a:solidFill>
                <a:latin typeface="Calibri"/>
              </a:rPr>
              <a:t>&lt;link rel="stylesheet" href="https://maxcdn.bootstrapcdn.com/bootstrap/4.0.0/css/bootstrap.min.css" integrity="sha384-Gn5384xqQ1aoWXA+058RXPxPg6fy4IWvTNh0E263XmFcJlSAwiGgFAW/dAiS6JXm" crossorigin="anonymous"&gt;</a:t>
            </a:r>
            <a:endParaRPr b="0" lang="es-ES" sz="13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3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3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1: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9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Crea un nuevo componente llamado “Search”. Importa el nuevo componente en el principal.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320" name="Imagen 9" descr=""/>
          <p:cNvPicPr/>
          <p:nvPr/>
        </p:nvPicPr>
        <p:blipFill>
          <a:blip r:embed="rId1"/>
          <a:stretch/>
        </p:blipFill>
        <p:spPr>
          <a:xfrm>
            <a:off x="1475640" y="2623320"/>
            <a:ext cx="5832360" cy="2982960"/>
          </a:xfrm>
          <a:prstGeom prst="rect">
            <a:avLst/>
          </a:prstGeom>
          <a:ln>
            <a:noFill/>
          </a:ln>
        </p:spPr>
      </p:pic>
      <p:sp>
        <p:nvSpPr>
          <p:cNvPr id="321" name="CustomShape 5"/>
          <p:cNvSpPr/>
          <p:nvPr/>
        </p:nvSpPr>
        <p:spPr>
          <a:xfrm>
            <a:off x="6228360" y="299700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Angular CLI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1: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5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Crea un nuevo componente llamado “Search”. Importa el nuevo componente en el principal.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326" name="Imagen 12" descr=""/>
          <p:cNvPicPr/>
          <p:nvPr/>
        </p:nvPicPr>
        <p:blipFill>
          <a:blip r:embed="rId1"/>
          <a:stretch/>
        </p:blipFill>
        <p:spPr>
          <a:xfrm>
            <a:off x="628560" y="3069000"/>
            <a:ext cx="7913520" cy="244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1: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8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0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Crea un nuevo componente llamado “Search”. Importa el nuevo componente en el principal.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331" name="Imagen 9" descr=""/>
          <p:cNvPicPr/>
          <p:nvPr/>
        </p:nvPicPr>
        <p:blipFill>
          <a:blip r:embed="rId1"/>
          <a:stretch/>
        </p:blipFill>
        <p:spPr>
          <a:xfrm>
            <a:off x="942840" y="4204440"/>
            <a:ext cx="2430720" cy="380520"/>
          </a:xfrm>
          <a:prstGeom prst="rect">
            <a:avLst/>
          </a:prstGeom>
          <a:ln>
            <a:noFill/>
          </a:ln>
        </p:spPr>
      </p:pic>
      <p:grpSp>
        <p:nvGrpSpPr>
          <p:cNvPr id="332" name="Group 5"/>
          <p:cNvGrpSpPr/>
          <p:nvPr/>
        </p:nvGrpSpPr>
        <p:grpSpPr>
          <a:xfrm>
            <a:off x="4039200" y="3636360"/>
            <a:ext cx="4064400" cy="1295640"/>
            <a:chOff x="4039200" y="3636360"/>
            <a:chExt cx="4064400" cy="1295640"/>
          </a:xfrm>
        </p:grpSpPr>
        <p:pic>
          <p:nvPicPr>
            <p:cNvPr id="333" name="Imagen 13" descr=""/>
            <p:cNvPicPr/>
            <p:nvPr/>
          </p:nvPicPr>
          <p:blipFill>
            <a:blip r:embed="rId2"/>
            <a:srcRect l="0" t="0" r="19003" b="64016"/>
            <a:stretch/>
          </p:blipFill>
          <p:spPr>
            <a:xfrm>
              <a:off x="4039200" y="3636360"/>
              <a:ext cx="4064400" cy="1295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334" name="CustomShape 6"/>
            <p:cNvSpPr/>
            <p:nvPr/>
          </p:nvSpPr>
          <p:spPr>
            <a:xfrm>
              <a:off x="4223160" y="4036680"/>
              <a:ext cx="1439640" cy="247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35" name="CustomShape 7"/>
          <p:cNvSpPr/>
          <p:nvPr/>
        </p:nvSpPr>
        <p:spPr>
          <a:xfrm>
            <a:off x="942840" y="362844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APP Component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336" name="CustomShape 8"/>
          <p:cNvSpPr/>
          <p:nvPr/>
        </p:nvSpPr>
        <p:spPr>
          <a:xfrm>
            <a:off x="4037760" y="304704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Search Component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2: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8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0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Sobre nuestro nuevo componente, crea un formulario con los siguientes requisitos: </a:t>
            </a:r>
            <a:endParaRPr b="0" lang="es-ES" sz="15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Debe tener una casilla de búsqueda (input text)</a:t>
            </a:r>
            <a:endParaRPr b="0" lang="es-ES" sz="135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Debe tener un botón “Buscar” que llame a un método “search” del componente</a:t>
            </a:r>
            <a:endParaRPr b="0" lang="es-ES" sz="135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Mostrar el texto de la query al momento que se va escribiendo en el input</a:t>
            </a:r>
            <a:endParaRPr b="0" lang="es-ES" sz="135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El método search modificará el valor de un atributo del componente llamado “result” con el siguiente texto: </a:t>
            </a:r>
            <a:endParaRPr b="0" lang="es-ES" sz="1350" spc="-1" strike="noStrike">
              <a:latin typeface="Arial"/>
            </a:endParaRPr>
          </a:p>
          <a:p>
            <a:pPr lvl="2" marL="64296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Consulta realizada con query “VALOR-DEL-INPUT”.</a:t>
            </a:r>
            <a:endParaRPr b="0" lang="es-ES" sz="1800" spc="-1" strike="noStrike">
              <a:latin typeface="Arial"/>
            </a:endParaRPr>
          </a:p>
          <a:p>
            <a:pPr lvl="2" marL="64296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La vista deberá mostrar el valor del atributo result en cuanto se pulse el botón.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341" name="Imagen 18" descr=""/>
          <p:cNvPicPr/>
          <p:nvPr/>
        </p:nvPicPr>
        <p:blipFill>
          <a:blip r:embed="rId1"/>
          <a:stretch/>
        </p:blipFill>
        <p:spPr>
          <a:xfrm>
            <a:off x="2045520" y="4307400"/>
            <a:ext cx="4874040" cy="1743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2: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5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Formulario de búsqueda:</a:t>
            </a:r>
            <a:endParaRPr b="0" lang="es-ES" sz="1500" spc="-1" strike="noStrike">
              <a:latin typeface="Arial"/>
            </a:endParaRPr>
          </a:p>
        </p:txBody>
      </p:sp>
      <p:grpSp>
        <p:nvGrpSpPr>
          <p:cNvPr id="346" name="Group 5"/>
          <p:cNvGrpSpPr/>
          <p:nvPr/>
        </p:nvGrpSpPr>
        <p:grpSpPr>
          <a:xfrm>
            <a:off x="719640" y="2190600"/>
            <a:ext cx="7616880" cy="4198680"/>
            <a:chOff x="719640" y="2190600"/>
            <a:chExt cx="7616880" cy="4198680"/>
          </a:xfrm>
        </p:grpSpPr>
        <p:pic>
          <p:nvPicPr>
            <p:cNvPr id="347" name="Imagen 9" descr=""/>
            <p:cNvPicPr/>
            <p:nvPr/>
          </p:nvPicPr>
          <p:blipFill>
            <a:blip r:embed="rId1"/>
            <a:srcRect l="0" t="0" r="0" b="8762"/>
            <a:stretch/>
          </p:blipFill>
          <p:spPr>
            <a:xfrm>
              <a:off x="3840840" y="2190600"/>
              <a:ext cx="4495680" cy="1814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8" name="Imagen 10" descr=""/>
            <p:cNvPicPr/>
            <p:nvPr/>
          </p:nvPicPr>
          <p:blipFill>
            <a:blip r:embed="rId2"/>
            <a:stretch/>
          </p:blipFill>
          <p:spPr>
            <a:xfrm>
              <a:off x="719640" y="4085280"/>
              <a:ext cx="4934520" cy="230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49" name="CustomShape 6"/>
            <p:cNvSpPr/>
            <p:nvPr/>
          </p:nvSpPr>
          <p:spPr>
            <a:xfrm>
              <a:off x="5654160" y="2270520"/>
              <a:ext cx="2610720" cy="431640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search.component.html</a:t>
              </a:r>
              <a:endParaRPr b="0" lang="es-ES" sz="1800" spc="-1" strike="noStrike">
                <a:latin typeface="Arial"/>
              </a:endParaRPr>
            </a:p>
          </p:txBody>
        </p:sp>
        <p:sp>
          <p:nvSpPr>
            <p:cNvPr id="350" name="CustomShape 7"/>
            <p:cNvSpPr/>
            <p:nvPr/>
          </p:nvSpPr>
          <p:spPr>
            <a:xfrm>
              <a:off x="2638800" y="4184280"/>
              <a:ext cx="2808000" cy="431640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search.component.ts</a:t>
              </a:r>
              <a:endParaRPr b="0" lang="es-ES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3: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4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Crear un atributo de entrada (@Input()) llamado 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labelButton </a:t>
            </a: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que modifique el texto del botón de búsqueda.</a:t>
            </a:r>
            <a:endParaRPr b="0" lang="es-E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3: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6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8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9" name="Imagen 5" descr=""/>
          <p:cNvPicPr/>
          <p:nvPr/>
        </p:nvPicPr>
        <p:blipFill>
          <a:blip r:embed="rId1"/>
          <a:stretch/>
        </p:blipFill>
        <p:spPr>
          <a:xfrm>
            <a:off x="894960" y="2175120"/>
            <a:ext cx="6629040" cy="654480"/>
          </a:xfrm>
          <a:prstGeom prst="rect">
            <a:avLst/>
          </a:prstGeom>
          <a:ln>
            <a:noFill/>
          </a:ln>
        </p:spPr>
      </p:pic>
      <p:sp>
        <p:nvSpPr>
          <p:cNvPr id="360" name="CustomShape 5"/>
          <p:cNvSpPr/>
          <p:nvPr/>
        </p:nvSpPr>
        <p:spPr>
          <a:xfrm>
            <a:off x="5652000" y="174420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APP Component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361" name="Imagen 9" descr=""/>
          <p:cNvPicPr/>
          <p:nvPr/>
        </p:nvPicPr>
        <p:blipFill>
          <a:blip r:embed="rId2"/>
          <a:srcRect l="0" t="0" r="2663" b="1772"/>
          <a:stretch/>
        </p:blipFill>
        <p:spPr>
          <a:xfrm>
            <a:off x="894960" y="3097440"/>
            <a:ext cx="6868440" cy="2487240"/>
          </a:xfrm>
          <a:prstGeom prst="rect">
            <a:avLst/>
          </a:prstGeom>
          <a:ln>
            <a:noFill/>
          </a:ln>
        </p:spPr>
      </p:pic>
      <p:sp>
        <p:nvSpPr>
          <p:cNvPr id="362" name="CustomShape 6"/>
          <p:cNvSpPr/>
          <p:nvPr/>
        </p:nvSpPr>
        <p:spPr>
          <a:xfrm>
            <a:off x="5652000" y="325836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Search Component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363" name="Imagen 11" descr=""/>
          <p:cNvPicPr/>
          <p:nvPr/>
        </p:nvPicPr>
        <p:blipFill>
          <a:blip r:embed="rId3"/>
          <a:srcRect l="2328" t="11199" r="28664" b="4579"/>
          <a:stretch/>
        </p:blipFill>
        <p:spPr>
          <a:xfrm>
            <a:off x="6582960" y="5266440"/>
            <a:ext cx="1792440" cy="1039680"/>
          </a:xfrm>
          <a:prstGeom prst="rect">
            <a:avLst/>
          </a:prstGeom>
          <a:ln cap="sq" w="88920">
            <a:solidFill>
              <a:srgbClr val="ffffff"/>
            </a:solidFill>
            <a:miter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64" name="CustomShape 7"/>
          <p:cNvSpPr/>
          <p:nvPr/>
        </p:nvSpPr>
        <p:spPr>
          <a:xfrm>
            <a:off x="5674320" y="4972320"/>
            <a:ext cx="90828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Ejercicio 4: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6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8" name="CustomShape 4"/>
          <p:cNvSpPr/>
          <p:nvPr/>
        </p:nvSpPr>
        <p:spPr>
          <a:xfrm>
            <a:off x="628560" y="1928160"/>
            <a:ext cx="7708320" cy="41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9" name="Imagen 5" descr=""/>
          <p:cNvPicPr/>
          <p:nvPr/>
        </p:nvPicPr>
        <p:blipFill>
          <a:blip r:embed="rId1"/>
          <a:stretch/>
        </p:blipFill>
        <p:spPr>
          <a:xfrm>
            <a:off x="668160" y="2237400"/>
            <a:ext cx="2895480" cy="464400"/>
          </a:xfrm>
          <a:prstGeom prst="rect">
            <a:avLst/>
          </a:prstGeom>
          <a:ln>
            <a:noFill/>
          </a:ln>
        </p:spPr>
      </p:pic>
      <p:pic>
        <p:nvPicPr>
          <p:cNvPr id="370" name="Imagen 8" descr=""/>
          <p:cNvPicPr/>
          <p:nvPr/>
        </p:nvPicPr>
        <p:blipFill>
          <a:blip r:embed="rId2"/>
          <a:stretch/>
        </p:blipFill>
        <p:spPr>
          <a:xfrm>
            <a:off x="3178440" y="2745720"/>
            <a:ext cx="5303520" cy="845640"/>
          </a:xfrm>
          <a:prstGeom prst="rect">
            <a:avLst/>
          </a:prstGeom>
          <a:ln>
            <a:noFill/>
          </a:ln>
        </p:spPr>
      </p:pic>
      <p:pic>
        <p:nvPicPr>
          <p:cNvPr id="371" name="Imagen 9" descr=""/>
          <p:cNvPicPr/>
          <p:nvPr/>
        </p:nvPicPr>
        <p:blipFill>
          <a:blip r:embed="rId3"/>
          <a:stretch/>
        </p:blipFill>
        <p:spPr>
          <a:xfrm>
            <a:off x="628560" y="3757320"/>
            <a:ext cx="5433120" cy="875880"/>
          </a:xfrm>
          <a:prstGeom prst="rect">
            <a:avLst/>
          </a:prstGeom>
          <a:ln>
            <a:noFill/>
          </a:ln>
        </p:spPr>
      </p:pic>
      <p:pic>
        <p:nvPicPr>
          <p:cNvPr id="372" name="Imagen 10" descr=""/>
          <p:cNvPicPr/>
          <p:nvPr/>
        </p:nvPicPr>
        <p:blipFill>
          <a:blip r:embed="rId4"/>
          <a:srcRect l="0" t="5382" r="0" b="6089"/>
          <a:stretch/>
        </p:blipFill>
        <p:spPr>
          <a:xfrm>
            <a:off x="2116080" y="4688280"/>
            <a:ext cx="4861800" cy="1308600"/>
          </a:xfrm>
          <a:prstGeom prst="rect">
            <a:avLst/>
          </a:prstGeom>
          <a:ln>
            <a:noFill/>
          </a:ln>
        </p:spPr>
      </p:pic>
      <p:sp>
        <p:nvSpPr>
          <p:cNvPr id="373" name="CustomShape 5"/>
          <p:cNvSpPr/>
          <p:nvPr/>
        </p:nvSpPr>
        <p:spPr>
          <a:xfrm>
            <a:off x="4293000" y="416664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APP Component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374" name="CustomShape 6"/>
          <p:cNvSpPr/>
          <p:nvPr/>
        </p:nvSpPr>
        <p:spPr>
          <a:xfrm>
            <a:off x="3338280" y="2224080"/>
            <a:ext cx="2160000" cy="575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Search Component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6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SERVICIOS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Los servicios de Angular son una clase de Typescript donde </a:t>
            </a:r>
            <a:r>
              <a:rPr b="1" lang="es-ES" sz="2000" spc="-1" strike="noStrike">
                <a:solidFill>
                  <a:srgbClr val="d6fb47"/>
                </a:solidFill>
                <a:latin typeface="Calibri"/>
                <a:ea typeface="Segoe UI Black"/>
              </a:rPr>
              <a:t>implementaremos la lógica de nuestra aplicación</a:t>
            </a: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, como por ejemplo: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1" marL="252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Gestionar login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1" marL="252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Configurar la seguridad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1" marL="252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Conectar con nuestra API-REST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1" marL="252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Compartir información entre componentes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72000">
              <a:lnSpc>
                <a:spcPct val="100000"/>
              </a:lnSpc>
              <a:spcAft>
                <a:spcPts val="1199"/>
              </a:spcAft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Nuestros componentes no deberán tener lógica dentro de sus métodos, simplemente deberán consumir un servicio para todo aquello que necesiten.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SERVICIOS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crear un nuevo servicios usaremos Angular CLI: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80" name="Imagen 14" descr=""/>
          <p:cNvPicPr/>
          <p:nvPr/>
        </p:nvPicPr>
        <p:blipFill>
          <a:blip r:embed="rId1"/>
          <a:stretch/>
        </p:blipFill>
        <p:spPr>
          <a:xfrm>
            <a:off x="2153520" y="4033800"/>
            <a:ext cx="4133520" cy="214272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8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2" name="CustomShape 4"/>
          <p:cNvSpPr/>
          <p:nvPr/>
        </p:nvSpPr>
        <p:spPr>
          <a:xfrm>
            <a:off x="3911400" y="3266280"/>
            <a:ext cx="618120" cy="94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83" name="Imagen 13" descr=""/>
          <p:cNvPicPr/>
          <p:nvPr/>
        </p:nvPicPr>
        <p:blipFill>
          <a:blip r:embed="rId2"/>
          <a:stretch/>
        </p:blipFill>
        <p:spPr>
          <a:xfrm>
            <a:off x="1537920" y="2796120"/>
            <a:ext cx="5364360" cy="5688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84" name="CustomShape 5"/>
          <p:cNvSpPr/>
          <p:nvPr/>
        </p:nvSpPr>
        <p:spPr>
          <a:xfrm>
            <a:off x="2360160" y="5712840"/>
            <a:ext cx="1297080" cy="391680"/>
          </a:xfrm>
          <a:prstGeom prst="rect">
            <a:avLst/>
          </a:prstGeom>
          <a:noFill/>
          <a:ln w="1908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48" dur="indefinite" restart="never" nodeType="tmRoot">
          <p:childTnLst>
            <p:seq>
              <p:cTn id="149" dur="indefinite" nodeType="mainSeq"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4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0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4" dur="14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SERVICIOS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En versiones anteriores a la 7, había que añadir como </a:t>
            </a: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provider</a:t>
            </a:r>
            <a:r>
              <a:rPr b="0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 servicios dentro de los módulos donde ser quería usar: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88" name="Imagen 8" descr=""/>
          <p:cNvPicPr/>
          <p:nvPr/>
        </p:nvPicPr>
        <p:blipFill>
          <a:blip r:embed="rId1"/>
          <a:stretch/>
        </p:blipFill>
        <p:spPr>
          <a:xfrm>
            <a:off x="733680" y="2711880"/>
            <a:ext cx="3646440" cy="333468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389" name="Imagen 9" descr=""/>
          <p:cNvPicPr/>
          <p:nvPr/>
        </p:nvPicPr>
        <p:blipFill>
          <a:blip r:embed="rId2"/>
          <a:stretch/>
        </p:blipFill>
        <p:spPr>
          <a:xfrm>
            <a:off x="4461840" y="3251880"/>
            <a:ext cx="3269160" cy="15238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90" name="CustomShape 4"/>
          <p:cNvSpPr/>
          <p:nvPr/>
        </p:nvSpPr>
        <p:spPr>
          <a:xfrm flipV="1">
            <a:off x="1958040" y="3972960"/>
            <a:ext cx="2970720" cy="150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accent6">
                <a:lumMod val="60000"/>
                <a:lumOff val="40000"/>
              </a:schemeClr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1" name="CustomShape 5"/>
          <p:cNvSpPr/>
          <p:nvPr/>
        </p:nvSpPr>
        <p:spPr>
          <a:xfrm flipV="1">
            <a:off x="3485520" y="3612960"/>
            <a:ext cx="1443240" cy="25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accent6">
                <a:lumMod val="60000"/>
                <a:lumOff val="40000"/>
              </a:schemeClr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2" name="CustomShape 6"/>
          <p:cNvSpPr/>
          <p:nvPr/>
        </p:nvSpPr>
        <p:spPr>
          <a:xfrm>
            <a:off x="3174840" y="5646600"/>
            <a:ext cx="1245600" cy="5245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APP MODULE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393" name="CustomShape 7"/>
          <p:cNvSpPr/>
          <p:nvPr/>
        </p:nvSpPr>
        <p:spPr>
          <a:xfrm>
            <a:off x="6415560" y="4601160"/>
            <a:ext cx="1245600" cy="31716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DataService</a:t>
            </a:r>
            <a:endParaRPr b="0" lang="es-E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SERVICIOS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A partir de la versión 7 esto ya no es necesario gracias a la propiedad: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providedIn: ‘root’ 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6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97" name="Imagen 5" descr=""/>
          <p:cNvPicPr/>
          <p:nvPr/>
        </p:nvPicPr>
        <p:blipFill>
          <a:blip r:embed="rId1"/>
          <a:stretch/>
        </p:blipFill>
        <p:spPr>
          <a:xfrm>
            <a:off x="707040" y="2855880"/>
            <a:ext cx="3791880" cy="28580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98" name="CustomShape 4"/>
          <p:cNvSpPr/>
          <p:nvPr/>
        </p:nvSpPr>
        <p:spPr>
          <a:xfrm>
            <a:off x="3087720" y="5451840"/>
            <a:ext cx="1245600" cy="5245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APP MODULE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399" name="Imagen 4" descr=""/>
          <p:cNvPicPr/>
          <p:nvPr/>
        </p:nvPicPr>
        <p:blipFill>
          <a:blip r:embed="rId2"/>
          <a:srcRect l="0" t="1625" r="0" b="0"/>
          <a:stretch/>
        </p:blipFill>
        <p:spPr>
          <a:xfrm>
            <a:off x="4307760" y="3277080"/>
            <a:ext cx="3504960" cy="16023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00" name="CustomShape 5"/>
          <p:cNvSpPr/>
          <p:nvPr/>
        </p:nvSpPr>
        <p:spPr>
          <a:xfrm>
            <a:off x="6398280" y="4712400"/>
            <a:ext cx="1245600" cy="31716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</a:rPr>
              <a:t>TestService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01" name="CustomShape 6"/>
          <p:cNvSpPr/>
          <p:nvPr/>
        </p:nvSpPr>
        <p:spPr>
          <a:xfrm>
            <a:off x="4641840" y="3805560"/>
            <a:ext cx="1375560" cy="235440"/>
          </a:xfrm>
          <a:prstGeom prst="rect">
            <a:avLst/>
          </a:prstGeom>
          <a:noFill/>
          <a:ln w="1908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SERVICIOS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Los servicios de Angular serán anotados con la anotación: </a:t>
            </a: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@Injectable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 que hace que podamos inyectarlo directamente en nuestros componentes.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05" name="Imagen 7" descr=""/>
          <p:cNvPicPr/>
          <p:nvPr/>
        </p:nvPicPr>
        <p:blipFill>
          <a:blip r:embed="rId1"/>
          <a:stretch/>
        </p:blipFill>
        <p:spPr>
          <a:xfrm>
            <a:off x="1290960" y="2813040"/>
            <a:ext cx="5846400" cy="2742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9" name="CustomShape 4"/>
          <p:cNvSpPr/>
          <p:nvPr/>
        </p:nvSpPr>
        <p:spPr>
          <a:xfrm>
            <a:off x="894960" y="3818160"/>
            <a:ext cx="1289880" cy="65268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SPA</a:t>
            </a:r>
            <a:endParaRPr b="0" lang="es-E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Angular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10" name="CustomShape 5"/>
          <p:cNvSpPr/>
          <p:nvPr/>
        </p:nvSpPr>
        <p:spPr>
          <a:xfrm>
            <a:off x="6183360" y="3680640"/>
            <a:ext cx="1876320" cy="87192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APP JAVA</a:t>
            </a:r>
            <a:endParaRPr b="0" lang="es-E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Spring Framework</a:t>
            </a:r>
            <a:endParaRPr b="0" lang="es-E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.NET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11" name="CustomShape 6"/>
          <p:cNvSpPr/>
          <p:nvPr/>
        </p:nvSpPr>
        <p:spPr>
          <a:xfrm>
            <a:off x="5240880" y="4264920"/>
            <a:ext cx="628200" cy="34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600" spc="-1" strike="noStrike">
                <a:solidFill>
                  <a:srgbClr val="ffffff"/>
                </a:solidFill>
                <a:latin typeface="Calibri"/>
              </a:rPr>
              <a:t>HTTP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12" name="Line 7"/>
          <p:cNvSpPr/>
          <p:nvPr/>
        </p:nvSpPr>
        <p:spPr>
          <a:xfrm flipH="1">
            <a:off x="4286160" y="2482200"/>
            <a:ext cx="1800" cy="3575880"/>
          </a:xfrm>
          <a:prstGeom prst="line">
            <a:avLst/>
          </a:prstGeom>
          <a:ln w="28440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3" name="CustomShape 8"/>
          <p:cNvSpPr/>
          <p:nvPr/>
        </p:nvSpPr>
        <p:spPr>
          <a:xfrm>
            <a:off x="2845440" y="2849400"/>
            <a:ext cx="1290240" cy="52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s-ES" sz="2400" spc="-1" strike="noStrike" u="sng">
                <a:solidFill>
                  <a:srgbClr val="dbefd4"/>
                </a:solidFill>
                <a:uFillTx/>
                <a:latin typeface="Calibri"/>
              </a:rPr>
              <a:t>Frontend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14" name="CustomShape 9"/>
          <p:cNvSpPr/>
          <p:nvPr/>
        </p:nvSpPr>
        <p:spPr>
          <a:xfrm>
            <a:off x="4429800" y="2849400"/>
            <a:ext cx="1290240" cy="52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760" rIns="68760" tIns="34200" bIns="342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2400" spc="-1" strike="noStrike" u="sng">
                <a:solidFill>
                  <a:srgbClr val="dbefd4"/>
                </a:solidFill>
                <a:uFillTx/>
                <a:latin typeface="Calibri"/>
              </a:rPr>
              <a:t>Backend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15" name="CustomShape 10"/>
          <p:cNvSpPr/>
          <p:nvPr/>
        </p:nvSpPr>
        <p:spPr>
          <a:xfrm flipV="1">
            <a:off x="2185200" y="4116600"/>
            <a:ext cx="3997800" cy="27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accent2">
                <a:lumMod val="40000"/>
                <a:lumOff val="60000"/>
              </a:schemeClr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6" dur="2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La mayoría de aplicaciones SPA necesitan comunicación con el backend. El protocolo más usado en estos casos es HTTP.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HttpClient tenemos un API para el uso de este protocolo facilitando la tarea de comunicación Frontend – Backend basado en patrón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Observable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Este cliente se encuentra dentro del módulo: </a:t>
            </a:r>
            <a:r>
              <a:rPr b="0" lang="es-ES" sz="1600" spc="-1" strike="noStrike">
                <a:solidFill>
                  <a:srgbClr val="d6fb47"/>
                </a:solidFill>
                <a:latin typeface="Calibri"/>
                <a:ea typeface="Segoe UI Black"/>
              </a:rPr>
              <a:t>@angular/common/http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>
                <a:solidFill>
                  <a:srgbClr val="ffffff"/>
                </a:solidFill>
                <a:latin typeface="ArialMT"/>
                <a:ea typeface="Segoe UI Black"/>
              </a:rPr>
              <a:t>Funcionalmente nos ofrece: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200" spc="-1" strike="noStrike">
                <a:solidFill>
                  <a:srgbClr val="ffffff"/>
                </a:solidFill>
                <a:latin typeface="ArialMT"/>
                <a:ea typeface="Segoe UI Black"/>
              </a:rPr>
              <a:t>Función para testear servicios</a:t>
            </a: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200" spc="-1" strike="noStrike">
                <a:solidFill>
                  <a:srgbClr val="ffffff"/>
                </a:solidFill>
                <a:latin typeface="ArialMT"/>
                <a:ea typeface="Segoe UI Black"/>
              </a:rPr>
              <a:t>Tipado fuerte tanto en las peticiones como en las respuestas</a:t>
            </a: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200" spc="-1" strike="noStrike">
                <a:solidFill>
                  <a:srgbClr val="ffffff"/>
                </a:solidFill>
                <a:latin typeface="ArialMT"/>
                <a:ea typeface="Segoe UI Black"/>
              </a:rPr>
              <a:t>Interceptores para manejar nuestras peticiones</a:t>
            </a: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200" spc="-1" strike="noStrike">
                <a:solidFill>
                  <a:srgbClr val="ffffff"/>
                </a:solidFill>
                <a:latin typeface="ArialMT"/>
                <a:ea typeface="Segoe UI Black"/>
              </a:rPr>
              <a:t>Sistema de manejo de errores</a:t>
            </a: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1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19" name="Imagen 13" descr=""/>
          <p:cNvPicPr/>
          <p:nvPr/>
        </p:nvPicPr>
        <p:blipFill>
          <a:blip r:embed="rId1"/>
          <a:stretch/>
        </p:blipFill>
        <p:spPr>
          <a:xfrm>
            <a:off x="1953360" y="4140360"/>
            <a:ext cx="4533840" cy="677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HTTPCLIENT: Patrón Observer / Observable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1004274642"/>
              </p:ext>
            </p:extLst>
          </p:nvPr>
        </p:nvGraphicFramePr>
        <p:xfrm>
          <a:off x="628560" y="1609560"/>
          <a:ext cx="7886520" cy="4566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23" name="Imagen 7" descr=""/>
          <p:cNvPicPr/>
          <p:nvPr/>
        </p:nvPicPr>
        <p:blipFill>
          <a:blip r:embed="rId6"/>
          <a:stretch/>
        </p:blipFill>
        <p:spPr>
          <a:xfrm>
            <a:off x="950040" y="3584880"/>
            <a:ext cx="4806360" cy="2592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Peticiones GET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Realizamos una petición get para obtener datos de nuestro servicio REST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5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27" name="Imagen 6" descr=""/>
          <p:cNvPicPr/>
          <p:nvPr/>
        </p:nvPicPr>
        <p:blipFill>
          <a:blip r:embed="rId1"/>
          <a:stretch/>
        </p:blipFill>
        <p:spPr>
          <a:xfrm>
            <a:off x="1763640" y="2897280"/>
            <a:ext cx="5616360" cy="3279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Peticiones GET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Realizamos una petición get para obtener datos de nuestro servicio REST con respuesta tipada.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9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31" name="Imagen 7" descr=""/>
          <p:cNvPicPr/>
          <p:nvPr/>
        </p:nvPicPr>
        <p:blipFill>
          <a:blip r:embed="rId1"/>
          <a:stretch/>
        </p:blipFill>
        <p:spPr>
          <a:xfrm>
            <a:off x="755640" y="4907520"/>
            <a:ext cx="3278520" cy="1190160"/>
          </a:xfrm>
          <a:prstGeom prst="rect">
            <a:avLst/>
          </a:prstGeom>
          <a:ln>
            <a:noFill/>
          </a:ln>
        </p:spPr>
      </p:pic>
      <p:pic>
        <p:nvPicPr>
          <p:cNvPr id="432" name="Imagen 8" descr=""/>
          <p:cNvPicPr/>
          <p:nvPr/>
        </p:nvPicPr>
        <p:blipFill>
          <a:blip r:embed="rId2"/>
          <a:stretch/>
        </p:blipFill>
        <p:spPr>
          <a:xfrm>
            <a:off x="755640" y="2994480"/>
            <a:ext cx="7302240" cy="1374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Peticiones GET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Gestión de errores.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4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36" name="Imagen 6" descr=""/>
          <p:cNvPicPr/>
          <p:nvPr/>
        </p:nvPicPr>
        <p:blipFill>
          <a:blip r:embed="rId1"/>
          <a:stretch/>
        </p:blipFill>
        <p:spPr>
          <a:xfrm>
            <a:off x="1787400" y="2978640"/>
            <a:ext cx="5568840" cy="3197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Peticiones POST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Envío de peticiones POST para crear recursos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8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40" name="Imagen 7" descr=""/>
          <p:cNvPicPr/>
          <p:nvPr/>
        </p:nvPicPr>
        <p:blipFill>
          <a:blip r:embed="rId1"/>
          <a:stretch/>
        </p:blipFill>
        <p:spPr>
          <a:xfrm>
            <a:off x="854280" y="2921040"/>
            <a:ext cx="6957720" cy="194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1"/>
          <p:cNvSpPr txBox="1"/>
          <p:nvPr/>
        </p:nvSpPr>
        <p:spPr>
          <a:xfrm>
            <a:off x="628560" y="1609560"/>
            <a:ext cx="788652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HTTPCLIENT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1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Otras operaciones: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Delete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Put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Jsonp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Options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Patch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Request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marL="285840" indent="-28548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  <a:ea typeface="Segoe UI Black"/>
              </a:rPr>
              <a:t>Head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Documentación completa: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https://angular.io/api/common/http/HttpClient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 Básico – Taller 2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5" name="TextShape 2"/>
          <p:cNvSpPr txBox="1"/>
          <p:nvPr/>
        </p:nvSpPr>
        <p:spPr>
          <a:xfrm>
            <a:off x="1547640" y="3558600"/>
            <a:ext cx="2642400" cy="409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Servicios y peticiones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2: Servicios y peticiones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9" name="CustomShape 4"/>
          <p:cNvSpPr/>
          <p:nvPr/>
        </p:nvSpPr>
        <p:spPr>
          <a:xfrm>
            <a:off x="628560" y="2052720"/>
            <a:ext cx="7708320" cy="3424320"/>
          </a:xfrm>
          <a:prstGeom prst="rect">
            <a:avLst/>
          </a:prstGeom>
          <a:noFill/>
          <a:ln>
            <a:noFill/>
          </a:ln>
        </p:spPr>
        <p:style>
          <a:lnRef idx="2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500" spc="-1" strike="noStrike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539640" y="2052720"/>
            <a:ext cx="7886520" cy="39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Crear un servicio dentro de nuestro nuevo módulo que se llame </a:t>
            </a:r>
            <a:r>
              <a:rPr b="0" lang="es-ES" sz="2000" spc="-1" strike="noStrike">
                <a:solidFill>
                  <a:srgbClr val="d6fb47"/>
                </a:solidFill>
                <a:latin typeface="Calibri"/>
              </a:rPr>
              <a:t>OwnerService </a:t>
            </a: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que tenga un método que se traiga la lista de owners de nuestro backend.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Utiliza la API-REST de Petclinic.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Repositorio de la API-REST de Petclinic: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hlinkClick r:id="rId1"/>
              </a:rPr>
              <a:t>https://github.com/spring-petclinic/spring-petclinic-rest.git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Servicio REST: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hlinkClick r:id="rId2"/>
              </a:rPr>
              <a:t>http://10.156.124.32:9966/petclinic/api/owners/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2: Servicios y peticiones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4" name="CustomShape 4"/>
          <p:cNvSpPr/>
          <p:nvPr/>
        </p:nvSpPr>
        <p:spPr>
          <a:xfrm>
            <a:off x="628560" y="2052720"/>
            <a:ext cx="7708320" cy="342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455" name="CustomShape 5"/>
          <p:cNvSpPr/>
          <p:nvPr/>
        </p:nvSpPr>
        <p:spPr>
          <a:xfrm>
            <a:off x="539640" y="2052720"/>
            <a:ext cx="7886520" cy="39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Crear un servicio dentro de nuestro módulo que se llame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OwnerService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que tenga un método que se traiga la lista de owners de nuestro backend.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Utiliza la API-REST de Petclinic.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ng g service search/owner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456" name="Imagen 9" descr=""/>
          <p:cNvPicPr/>
          <p:nvPr/>
        </p:nvPicPr>
        <p:blipFill>
          <a:blip r:embed="rId1"/>
          <a:stretch/>
        </p:blipFill>
        <p:spPr>
          <a:xfrm>
            <a:off x="1305720" y="3599280"/>
            <a:ext cx="5829480" cy="2445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2: Servicios y peticiones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8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0" name="CustomShape 4"/>
          <p:cNvSpPr/>
          <p:nvPr/>
        </p:nvSpPr>
        <p:spPr>
          <a:xfrm>
            <a:off x="628560" y="2052720"/>
            <a:ext cx="7708320" cy="342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461" name="CustomShape 5"/>
          <p:cNvSpPr/>
          <p:nvPr/>
        </p:nvSpPr>
        <p:spPr>
          <a:xfrm>
            <a:off x="539640" y="2052720"/>
            <a:ext cx="7886520" cy="39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 un nuevo componente que muestre la lista de todos los owners que devuelve el servicio anterior.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462" name="Imagen 10" descr=""/>
          <p:cNvPicPr/>
          <p:nvPr/>
        </p:nvPicPr>
        <p:blipFill>
          <a:blip r:embed="rId1"/>
          <a:stretch/>
        </p:blipFill>
        <p:spPr>
          <a:xfrm>
            <a:off x="2718000" y="2496240"/>
            <a:ext cx="4251960" cy="3794760"/>
          </a:xfrm>
          <a:prstGeom prst="rect">
            <a:avLst/>
          </a:prstGeom>
          <a:ln w="1908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2: Servicios y peticiones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4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6" name="CustomShape 4"/>
          <p:cNvSpPr/>
          <p:nvPr/>
        </p:nvSpPr>
        <p:spPr>
          <a:xfrm>
            <a:off x="628560" y="2052720"/>
            <a:ext cx="7708320" cy="342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467" name="CustomShape 5"/>
          <p:cNvSpPr/>
          <p:nvPr/>
        </p:nvSpPr>
        <p:spPr>
          <a:xfrm>
            <a:off x="539640" y="2052720"/>
            <a:ext cx="7886520" cy="39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8" name="Imagen 9" descr=""/>
          <p:cNvPicPr/>
          <p:nvPr/>
        </p:nvPicPr>
        <p:blipFill>
          <a:blip r:embed="rId1"/>
          <a:stretch/>
        </p:blipFill>
        <p:spPr>
          <a:xfrm>
            <a:off x="2219400" y="2664360"/>
            <a:ext cx="4526280" cy="1264680"/>
          </a:xfrm>
          <a:prstGeom prst="rect">
            <a:avLst/>
          </a:prstGeom>
          <a:ln w="1908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0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FORMULARIOS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Los formularios son una parte fundamental en cualquier aplicación ya que es el mecanismo con el que los usuarios pueden introducir datos en ella.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trabajar con formularios tenemos que usar el módulo </a:t>
            </a: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FormModule</a:t>
            </a:r>
            <a:r>
              <a:rPr b="0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 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de Angular.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Este módulo nos va a permitir: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2" marL="43704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Utilizar el </a:t>
            </a: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two-way data binding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2" marL="43704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Consultar cualquier cambio en los datos de entrada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2" marL="43704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Validar campos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2" marL="43704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Manejo de errores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1199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Angular se basa en las anotaciones propias de </a:t>
            </a: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HTML 5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3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FORMULARIOS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ngSubmit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Directiva que se coloca sobre un &lt;form&gt; donde configuramos que hacer cuando se ejecute el submit del formulario.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[(ngModel)]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Nos permite hacer el two-way data binding y trabajar con los distintos estados posibles.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75" name="Imagen 4" descr=""/>
          <p:cNvPicPr/>
          <p:nvPr/>
        </p:nvPicPr>
        <p:blipFill>
          <a:blip r:embed="rId1"/>
          <a:stretch/>
        </p:blipFill>
        <p:spPr>
          <a:xfrm>
            <a:off x="2553480" y="3285360"/>
            <a:ext cx="3333240" cy="74268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476" name="Imagen 5" descr=""/>
          <p:cNvPicPr/>
          <p:nvPr/>
        </p:nvPicPr>
        <p:blipFill>
          <a:blip r:embed="rId2"/>
          <a:stretch/>
        </p:blipFill>
        <p:spPr>
          <a:xfrm>
            <a:off x="1504080" y="5302800"/>
            <a:ext cx="5432760" cy="87372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FORMULARIOS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Directiva ngForm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poder manejar el formulario necesitamos crear en nuestra etiqueta &lt;form&gt; una variable: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A través de esta variable podremos manejar los campos del formulario, monitorizar las propiedades del mismo y validar los valores del formulario.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80" name="Imagen 7" descr=""/>
          <p:cNvPicPr/>
          <p:nvPr/>
        </p:nvPicPr>
        <p:blipFill>
          <a:blip r:embed="rId1"/>
          <a:stretch/>
        </p:blipFill>
        <p:spPr>
          <a:xfrm>
            <a:off x="1287720" y="3487680"/>
            <a:ext cx="5865480" cy="100188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FORMULARIOS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Estados de un campo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i="1" lang="es-ES" sz="1600" spc="-1" strike="noStrike">
                <a:solidFill>
                  <a:srgbClr val="dbefd4"/>
                </a:solidFill>
                <a:latin typeface="Calibri"/>
                <a:ea typeface="Segoe UI Black"/>
              </a:rPr>
              <a:t>ngModel</a:t>
            </a: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 nos permite gestionar los diferentes estados de un campo. Según estos estados, angular añade unos estilos CSS propios a cada uno.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Podemos usar temporalmente la variable name para mostrar el valor de las clases css asignadas: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84" name="Imagen 4" descr=""/>
          <p:cNvPicPr/>
          <p:nvPr/>
        </p:nvPicPr>
        <p:blipFill>
          <a:blip r:embed="rId1"/>
          <a:srcRect l="230" t="935" r="0" b="0"/>
          <a:stretch/>
        </p:blipFill>
        <p:spPr>
          <a:xfrm>
            <a:off x="776160" y="3344040"/>
            <a:ext cx="6888240" cy="1084680"/>
          </a:xfrm>
          <a:prstGeom prst="rect">
            <a:avLst/>
          </a:prstGeom>
          <a:ln>
            <a:noFill/>
          </a:ln>
        </p:spPr>
      </p:pic>
      <p:pic>
        <p:nvPicPr>
          <p:cNvPr id="485" name="Imagen 6" descr=""/>
          <p:cNvPicPr/>
          <p:nvPr/>
        </p:nvPicPr>
        <p:blipFill>
          <a:blip r:embed="rId2"/>
          <a:stretch/>
        </p:blipFill>
        <p:spPr>
          <a:xfrm>
            <a:off x="732600" y="5340960"/>
            <a:ext cx="6890400" cy="44964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Las pipes son pequeñas funciones que nos sirven para modificar nuestra vista.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Nos permiten: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Decorar un tipo de dato concreto: Número, fecha, porcentaje, etc.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Filtrar contenido.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spcAft>
                <a:spcPts val="601"/>
              </a:spcAft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También podremos definir nuestros propios Pipes a medida según nuestras necesidades.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89" name="Picture 2" descr="Resultado de imagen de pipes angular"/>
          <p:cNvPicPr/>
          <p:nvPr/>
        </p:nvPicPr>
        <p:blipFill>
          <a:blip r:embed="rId1"/>
          <a:srcRect l="19479" t="13316" r="12960" b="14636"/>
          <a:stretch/>
        </p:blipFill>
        <p:spPr>
          <a:xfrm>
            <a:off x="3301920" y="4933080"/>
            <a:ext cx="1837080" cy="11188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77" dur="indefinite" restart="never" nodeType="tmRoot">
          <p:childTnLst>
            <p:seq>
              <p:cTn id="178" dur="indefinite" nodeType="mainSeq"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4" dur="10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" dur="10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Las pipes que proporciona Angular en su core son: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CurrencyPipe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DatePipe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DecimalPipe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JsonPipe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LowerCasePipe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UpperCasePipe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PercentPipe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SlicePipe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i="1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AsyncPipe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Currency Pipe: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Este pipe transforma números a formato de monedas Locales.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https://angular.io/api/common/CurrencyPipe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96" name="Imagen 4" descr=""/>
          <p:cNvPicPr/>
          <p:nvPr/>
        </p:nvPicPr>
        <p:blipFill>
          <a:blip r:embed="rId2"/>
          <a:stretch/>
        </p:blipFill>
        <p:spPr>
          <a:xfrm>
            <a:off x="725040" y="3384720"/>
            <a:ext cx="6633360" cy="5173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497" name="Imagen 5" descr=""/>
          <p:cNvPicPr/>
          <p:nvPr/>
        </p:nvPicPr>
        <p:blipFill>
          <a:blip r:embed="rId3"/>
          <a:stretch/>
        </p:blipFill>
        <p:spPr>
          <a:xfrm>
            <a:off x="725040" y="4305600"/>
            <a:ext cx="2832120" cy="13348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9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Date Pipe: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https://angular.io/api/common/DatePipe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01" name="Imagen 6" descr=""/>
          <p:cNvPicPr/>
          <p:nvPr/>
        </p:nvPicPr>
        <p:blipFill>
          <a:blip r:embed="rId2"/>
          <a:stretch/>
        </p:blipFill>
        <p:spPr>
          <a:xfrm>
            <a:off x="731520" y="3323520"/>
            <a:ext cx="4534560" cy="5151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502" name="Imagen 7" descr=""/>
          <p:cNvPicPr/>
          <p:nvPr/>
        </p:nvPicPr>
        <p:blipFill>
          <a:blip r:embed="rId3"/>
          <a:stretch/>
        </p:blipFill>
        <p:spPr>
          <a:xfrm>
            <a:off x="731520" y="4246200"/>
            <a:ext cx="4534560" cy="13942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Slice Pipe: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El pipe Slice nos permite extraer elementos según indiquemos en sus parámetros. Podemos cortar Arrays, strings o listas.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https://angular.io/api/common/SlicePipe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ffffff"/>
                </a:solidFill>
                <a:latin typeface="Calibri"/>
                <a:ea typeface="Segoe UI Black"/>
              </a:rPr>
              <a:t>{{ variable | slice:posicionInicial:posicionFinal }}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06" name="Imagen 9" descr=""/>
          <p:cNvPicPr/>
          <p:nvPr/>
        </p:nvPicPr>
        <p:blipFill>
          <a:blip r:embed="rId2"/>
          <a:stretch/>
        </p:blipFill>
        <p:spPr>
          <a:xfrm>
            <a:off x="5924520" y="4616280"/>
            <a:ext cx="1809000" cy="940680"/>
          </a:xfrm>
          <a:prstGeom prst="rect">
            <a:avLst/>
          </a:prstGeom>
          <a:ln>
            <a:noFill/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sp>
        <p:nvSpPr>
          <p:cNvPr id="507" name="CustomShape 4"/>
          <p:cNvSpPr/>
          <p:nvPr/>
        </p:nvSpPr>
        <p:spPr>
          <a:xfrm>
            <a:off x="5035680" y="4906800"/>
            <a:ext cx="96696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08" name="Imagen 8" descr=""/>
          <p:cNvPicPr/>
          <p:nvPr/>
        </p:nvPicPr>
        <p:blipFill>
          <a:blip r:embed="rId3"/>
          <a:stretch/>
        </p:blipFill>
        <p:spPr>
          <a:xfrm>
            <a:off x="725040" y="3996720"/>
            <a:ext cx="4647960" cy="2180160"/>
          </a:xfrm>
          <a:prstGeom prst="rect">
            <a:avLst/>
          </a:prstGeom>
          <a:ln>
            <a:noFill/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2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0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PIPES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Async Pipe: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Nos permite mostrar información que viene de Observables o Promesas.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https://angular.io/api/common/AsyncPipe</a:t>
            </a: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12" name="Imagen 12" descr=""/>
          <p:cNvPicPr/>
          <p:nvPr/>
        </p:nvPicPr>
        <p:blipFill>
          <a:blip r:embed="rId2"/>
          <a:stretch/>
        </p:blipFill>
        <p:spPr>
          <a:xfrm>
            <a:off x="741960" y="3230280"/>
            <a:ext cx="3821040" cy="4953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513" name="Imagen 13" descr=""/>
          <p:cNvPicPr/>
          <p:nvPr/>
        </p:nvPicPr>
        <p:blipFill>
          <a:blip r:embed="rId3"/>
          <a:stretch/>
        </p:blipFill>
        <p:spPr>
          <a:xfrm>
            <a:off x="741960" y="3907800"/>
            <a:ext cx="5772240" cy="20869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 – Taller 3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5" name="TextShape 2"/>
          <p:cNvSpPr txBox="1"/>
          <p:nvPr/>
        </p:nvSpPr>
        <p:spPr>
          <a:xfrm>
            <a:off x="1547640" y="3558600"/>
            <a:ext cx="5994360" cy="124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Formularios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9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Vamos a crear un nuevo componente que nos permita crear un Owner, para ello, creamos nuestro nuevo componente </a:t>
            </a:r>
            <a:r>
              <a:rPr b="0" lang="es-ES" sz="2000" spc="-1" strike="noStrike">
                <a:solidFill>
                  <a:srgbClr val="d6fb47"/>
                </a:solidFill>
                <a:latin typeface="Calibri"/>
              </a:rPr>
              <a:t>FormOwner</a:t>
            </a:r>
            <a:endParaRPr b="0" lang="es-ES" sz="2000" spc="-1" strike="noStrike">
              <a:latin typeface="Arial"/>
            </a:endParaRPr>
          </a:p>
          <a:p>
            <a:pPr marL="192960">
              <a:lnSpc>
                <a:spcPct val="90000"/>
              </a:lnSpc>
              <a:spcBef>
                <a:spcPts val="281"/>
              </a:spcBef>
            </a:pPr>
            <a:r>
              <a:rPr b="0" lang="es-ES" sz="2000" spc="-1" strike="noStrike">
                <a:solidFill>
                  <a:srgbClr val="d6fb47"/>
                </a:solidFill>
                <a:latin typeface="Calibri"/>
              </a:rPr>
              <a:t>ng g component components/formOwner</a:t>
            </a:r>
            <a:endParaRPr b="0" lang="es-ES" sz="20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Creamos una nueva vista para nuestro formulario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20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Creamos un enlace desde la vista de listado de Owners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520" name="Imagen 8" descr=""/>
          <p:cNvPicPr/>
          <p:nvPr/>
        </p:nvPicPr>
        <p:blipFill>
          <a:blip r:embed="rId1"/>
          <a:stretch/>
        </p:blipFill>
        <p:spPr>
          <a:xfrm>
            <a:off x="3134520" y="3407760"/>
            <a:ext cx="2774520" cy="815400"/>
          </a:xfrm>
          <a:prstGeom prst="rect">
            <a:avLst/>
          </a:prstGeom>
          <a:ln>
            <a:noFill/>
          </a:ln>
        </p:spPr>
      </p:pic>
      <p:pic>
        <p:nvPicPr>
          <p:cNvPr id="521" name="Imagen 9" descr=""/>
          <p:cNvPicPr/>
          <p:nvPr/>
        </p:nvPicPr>
        <p:blipFill>
          <a:blip r:embed="rId2"/>
          <a:stretch/>
        </p:blipFill>
        <p:spPr>
          <a:xfrm>
            <a:off x="1391760" y="4915080"/>
            <a:ext cx="6260040" cy="785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5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Validamos que nuestro AppModule está correctamente configurado para usar formularios: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…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import { </a:t>
            </a:r>
            <a:r>
              <a:rPr b="0" lang="es-ES" sz="2000" spc="-1" strike="noStrike" u="sng">
                <a:solidFill>
                  <a:srgbClr val="6b9f25"/>
                </a:solidFill>
                <a:uFillTx/>
                <a:latin typeface="Calibri"/>
                <a:hlinkClick r:id="rId1"/>
              </a:rPr>
              <a:t>FormsModule</a:t>
            </a: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 } from '@angular/forms';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…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imports: [ </a:t>
            </a:r>
            <a:r>
              <a:rPr b="0" lang="es-ES" sz="2000" spc="-1" strike="noStrike" u="sng">
                <a:solidFill>
                  <a:srgbClr val="6b9f25"/>
                </a:solidFill>
                <a:uFillTx/>
                <a:latin typeface="Calibri"/>
                <a:hlinkClick r:id="rId2"/>
              </a:rPr>
              <a:t>BrowserModule</a:t>
            </a: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, </a:t>
            </a:r>
            <a:r>
              <a:rPr b="0" lang="es-ES" sz="2000" spc="-1" strike="noStrike" u="sng">
                <a:solidFill>
                  <a:srgbClr val="6b9f25"/>
                </a:solidFill>
                <a:uFillTx/>
                <a:latin typeface="Calibri"/>
                <a:hlinkClick r:id="rId3"/>
              </a:rPr>
              <a:t>FormsModule</a:t>
            </a: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 ],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2000" spc="-1" strike="noStrike">
                <a:solidFill>
                  <a:srgbClr val="ffffff"/>
                </a:solidFill>
                <a:latin typeface="Calibri"/>
              </a:rPr>
              <a:t>…</a:t>
            </a:r>
            <a:endParaRPr b="0" lang="es-E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9" name="CustomShape 4"/>
          <p:cNvSpPr/>
          <p:nvPr/>
        </p:nvSpPr>
        <p:spPr>
          <a:xfrm>
            <a:off x="628560" y="2052720"/>
            <a:ext cx="7858080" cy="424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En nuestro FormOwner crea un objeto de tipo Owner</a:t>
            </a: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 una variable para gestionar nuestro formulario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ownerForm</a:t>
            </a: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Dentro de nuestro componente creamos un formulario con los siguientes campos: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First Name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Last Name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Address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City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Telephone</a:t>
            </a:r>
            <a:endParaRPr b="0" lang="es-ES" sz="1800" spc="-1" strike="noStrike">
              <a:latin typeface="Arial"/>
            </a:endParaRPr>
          </a:p>
          <a:p>
            <a:pPr marL="257040"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 marL="257040"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 marL="192960">
              <a:lnSpc>
                <a:spcPct val="90000"/>
              </a:lnSpc>
              <a:spcBef>
                <a:spcPts val="281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 los campos obligatorios hay que marcar el atributo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required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.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530" name="Imagen 8" descr=""/>
          <p:cNvPicPr/>
          <p:nvPr/>
        </p:nvPicPr>
        <p:blipFill>
          <a:blip r:embed="rId1"/>
          <a:stretch/>
        </p:blipFill>
        <p:spPr>
          <a:xfrm>
            <a:off x="2599920" y="3316320"/>
            <a:ext cx="4110120" cy="1992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4" name="CustomShape 4"/>
          <p:cNvSpPr/>
          <p:nvPr/>
        </p:nvSpPr>
        <p:spPr>
          <a:xfrm>
            <a:off x="628560" y="2052720"/>
            <a:ext cx="7858080" cy="424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Mostrar y ocultar errores de validación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La directiva 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ngModel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añade propiedades extra al atributo name: </a:t>
            </a:r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hlinkClick r:id="rId1"/>
              </a:rPr>
              <a:t>https://angular.io/api/forms/NgModel</a:t>
            </a:r>
            <a:endParaRPr b="0" lang="es-ES" sz="1800" spc="-1" strike="noStrike">
              <a:latin typeface="Arial"/>
            </a:endParaRPr>
          </a:p>
        </p:txBody>
      </p:sp>
      <p:grpSp>
        <p:nvGrpSpPr>
          <p:cNvPr id="535" name="Group 5"/>
          <p:cNvGrpSpPr/>
          <p:nvPr/>
        </p:nvGrpSpPr>
        <p:grpSpPr>
          <a:xfrm>
            <a:off x="2195280" y="2664360"/>
            <a:ext cx="4050000" cy="2176560"/>
            <a:chOff x="2195280" y="2664360"/>
            <a:chExt cx="4050000" cy="2176560"/>
          </a:xfrm>
        </p:grpSpPr>
        <p:pic>
          <p:nvPicPr>
            <p:cNvPr id="536" name="Imagen 10" descr=""/>
            <p:cNvPicPr/>
            <p:nvPr/>
          </p:nvPicPr>
          <p:blipFill>
            <a:blip r:embed="rId2"/>
            <a:stretch/>
          </p:blipFill>
          <p:spPr>
            <a:xfrm>
              <a:off x="2195280" y="2664360"/>
              <a:ext cx="4050000" cy="2176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37" name="CustomShape 6"/>
            <p:cNvSpPr/>
            <p:nvPr/>
          </p:nvSpPr>
          <p:spPr>
            <a:xfrm>
              <a:off x="2689200" y="3625200"/>
              <a:ext cx="2963520" cy="519840"/>
            </a:xfrm>
            <a:prstGeom prst="rect">
              <a:avLst/>
            </a:prstGeom>
            <a:noFill/>
            <a:ln w="3816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9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41" name="CustomShape 4"/>
          <p:cNvSpPr/>
          <p:nvPr/>
        </p:nvSpPr>
        <p:spPr>
          <a:xfrm>
            <a:off x="628560" y="2052720"/>
            <a:ext cx="7858080" cy="424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Creamos un botón de submit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Creamos el método en el componente: </a:t>
            </a:r>
            <a:br/>
            <a:r>
              <a:rPr b="0" lang="es-ES" sz="1800" spc="-1" strike="noStrike" u="sng">
                <a:solidFill>
                  <a:srgbClr val="6b9f25"/>
                </a:solidFill>
                <a:uFillTx/>
                <a:latin typeface="Calibri"/>
                <a:hlinkClick r:id="rId1"/>
              </a:rPr>
              <a:t>http://ip:9966/petclinic/swagger-ui.html#!/owner-rest-controller/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542" name="Imagen 8" descr=""/>
          <p:cNvPicPr/>
          <p:nvPr/>
        </p:nvPicPr>
        <p:blipFill>
          <a:blip r:embed="rId2"/>
          <a:stretch/>
        </p:blipFill>
        <p:spPr>
          <a:xfrm>
            <a:off x="1563120" y="3010320"/>
            <a:ext cx="6218280" cy="827640"/>
          </a:xfrm>
          <a:prstGeom prst="rect">
            <a:avLst/>
          </a:prstGeom>
          <a:ln>
            <a:noFill/>
          </a:ln>
        </p:spPr>
      </p:pic>
      <p:pic>
        <p:nvPicPr>
          <p:cNvPr id="543" name="Imagen 12" descr=""/>
          <p:cNvPicPr/>
          <p:nvPr/>
        </p:nvPicPr>
        <p:blipFill>
          <a:blip r:embed="rId3"/>
          <a:stretch/>
        </p:blipFill>
        <p:spPr>
          <a:xfrm>
            <a:off x="1113480" y="2545200"/>
            <a:ext cx="7117920" cy="361440"/>
          </a:xfrm>
          <a:prstGeom prst="rect">
            <a:avLst/>
          </a:prstGeom>
          <a:ln>
            <a:noFill/>
          </a:ln>
        </p:spPr>
      </p:pic>
      <p:pic>
        <p:nvPicPr>
          <p:cNvPr id="544" name="Imagen 13" descr=""/>
          <p:cNvPicPr/>
          <p:nvPr/>
        </p:nvPicPr>
        <p:blipFill>
          <a:blip r:embed="rId4"/>
          <a:stretch/>
        </p:blipFill>
        <p:spPr>
          <a:xfrm>
            <a:off x="2835360" y="4665240"/>
            <a:ext cx="3444480" cy="1819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3: Formularios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46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48" name="CustomShape 4"/>
          <p:cNvSpPr/>
          <p:nvPr/>
        </p:nvSpPr>
        <p:spPr>
          <a:xfrm>
            <a:off x="628560" y="2052720"/>
            <a:ext cx="7858080" cy="424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Creamos en OwnerService un método para crear un owner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549" name="Imagen 9" descr=""/>
          <p:cNvPicPr/>
          <p:nvPr/>
        </p:nvPicPr>
        <p:blipFill>
          <a:blip r:embed="rId1"/>
          <a:stretch/>
        </p:blipFill>
        <p:spPr>
          <a:xfrm>
            <a:off x="682920" y="2486160"/>
            <a:ext cx="7749720" cy="1243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Estamos acostumbrados a que la navegación por nuestros navegadores implique: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Al indicar una URL nos lleva a una página concreta.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Que al clicar en un link nos cambia de página.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 lvl="1" marL="180000" indent="-17964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Al darle al botón de Volver nos envía a la página anterior.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¿Qué pasa con este comportamiento en nuestras SPA?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Con el </a:t>
            </a:r>
            <a:r>
              <a:rPr b="1" i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Router Module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podremos modelar este comportamiento en </a:t>
            </a:r>
            <a:r>
              <a:rPr b="0" lang="es-ES" sz="1800" spc="-1" strike="noStrike" u="sng">
                <a:solidFill>
                  <a:srgbClr val="ffffff"/>
                </a:solidFill>
                <a:uFillTx/>
                <a:latin typeface="Calibri"/>
                <a:ea typeface="Segoe UI Black"/>
              </a:rPr>
              <a:t>Angular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6" name="CustomShape 4"/>
          <p:cNvSpPr/>
          <p:nvPr/>
        </p:nvSpPr>
        <p:spPr>
          <a:xfrm>
            <a:off x="5292000" y="2133000"/>
            <a:ext cx="208800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57" name="Group 5"/>
          <p:cNvGrpSpPr/>
          <p:nvPr/>
        </p:nvGrpSpPr>
        <p:grpSpPr>
          <a:xfrm>
            <a:off x="750600" y="2205000"/>
            <a:ext cx="3720960" cy="3600000"/>
            <a:chOff x="750600" y="2205000"/>
            <a:chExt cx="3720960" cy="3600000"/>
          </a:xfrm>
        </p:grpSpPr>
        <p:sp>
          <p:nvSpPr>
            <p:cNvPr id="558" name="CustomShape 6"/>
            <p:cNvSpPr/>
            <p:nvPr/>
          </p:nvSpPr>
          <p:spPr>
            <a:xfrm>
              <a:off x="750960" y="2205000"/>
              <a:ext cx="3720240" cy="3600000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9" name="CustomShape 7"/>
            <p:cNvSpPr/>
            <p:nvPr/>
          </p:nvSpPr>
          <p:spPr>
            <a:xfrm>
              <a:off x="1382400" y="3429000"/>
              <a:ext cx="2316600" cy="194400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Vista 1</a:t>
              </a:r>
              <a:endParaRPr b="0" lang="es-ES" sz="1800" spc="-1" strike="noStrike">
                <a:latin typeface="Arial"/>
              </a:endParaRPr>
            </a:p>
          </p:txBody>
        </p:sp>
        <p:sp>
          <p:nvSpPr>
            <p:cNvPr id="560" name="CustomShape 8"/>
            <p:cNvSpPr/>
            <p:nvPr/>
          </p:nvSpPr>
          <p:spPr>
            <a:xfrm>
              <a:off x="750600" y="2329560"/>
              <a:ext cx="3720960" cy="4316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8760" rIns="68760" tIns="34200" bIns="342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/path-vista1</a:t>
              </a:r>
              <a:endParaRPr b="0" lang="es-ES" sz="1800" spc="-1" strike="noStrike">
                <a:latin typeface="Arial"/>
              </a:endParaRPr>
            </a:p>
          </p:txBody>
        </p:sp>
      </p:grpSp>
      <p:grpSp>
        <p:nvGrpSpPr>
          <p:cNvPr id="561" name="Group 9"/>
          <p:cNvGrpSpPr/>
          <p:nvPr/>
        </p:nvGrpSpPr>
        <p:grpSpPr>
          <a:xfrm>
            <a:off x="4629960" y="2205000"/>
            <a:ext cx="3723840" cy="3600000"/>
            <a:chOff x="4629960" y="2205000"/>
            <a:chExt cx="3723840" cy="3600000"/>
          </a:xfrm>
        </p:grpSpPr>
        <p:sp>
          <p:nvSpPr>
            <p:cNvPr id="562" name="CustomShape 10"/>
            <p:cNvSpPr/>
            <p:nvPr/>
          </p:nvSpPr>
          <p:spPr>
            <a:xfrm>
              <a:off x="4630320" y="2205000"/>
              <a:ext cx="3723120" cy="3600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/>
          </p:style>
        </p:sp>
        <p:sp>
          <p:nvSpPr>
            <p:cNvPr id="563" name="CustomShape 11"/>
            <p:cNvSpPr/>
            <p:nvPr/>
          </p:nvSpPr>
          <p:spPr>
            <a:xfrm>
              <a:off x="5262120" y="3429000"/>
              <a:ext cx="2318400" cy="194400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Vista 2</a:t>
              </a:r>
              <a:endParaRPr b="0" lang="es-ES" sz="1800" spc="-1" strike="noStrike">
                <a:latin typeface="Arial"/>
              </a:endParaRPr>
            </a:p>
          </p:txBody>
        </p:sp>
        <p:sp>
          <p:nvSpPr>
            <p:cNvPr id="564" name="CustomShape 12"/>
            <p:cNvSpPr/>
            <p:nvPr/>
          </p:nvSpPr>
          <p:spPr>
            <a:xfrm>
              <a:off x="4629960" y="2329560"/>
              <a:ext cx="3723840" cy="4316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8760" rIns="68760" tIns="34200" bIns="342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s-ES" sz="1800" spc="-1" strike="noStrike">
                  <a:solidFill>
                    <a:srgbClr val="ffffff"/>
                  </a:solidFill>
                  <a:latin typeface="Calibri"/>
                </a:rPr>
                <a:t>/path-vista2</a:t>
              </a:r>
              <a:endParaRPr b="0" lang="es-ES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6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Para empezar a usar este módulo, como siempre </a:t>
            </a:r>
            <a:r>
              <a:rPr b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debemos importarlo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68" name="Imagen 4" descr=""/>
          <p:cNvPicPr/>
          <p:nvPr/>
        </p:nvPicPr>
        <p:blipFill>
          <a:blip r:embed="rId1"/>
          <a:stretch/>
        </p:blipFill>
        <p:spPr>
          <a:xfrm>
            <a:off x="712440" y="2779560"/>
            <a:ext cx="7099560" cy="151524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0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Una vez importado, configuramos un </a:t>
            </a:r>
            <a:r>
              <a:rPr b="1" i="1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Array</a:t>
            </a:r>
            <a:r>
              <a:rPr b="0" lang="es-ES" sz="18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con las rutas: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1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72" name="Imagen 5" descr=""/>
          <p:cNvPicPr/>
          <p:nvPr/>
        </p:nvPicPr>
        <p:blipFill>
          <a:blip r:embed="rId1"/>
          <a:stretch/>
        </p:blipFill>
        <p:spPr>
          <a:xfrm>
            <a:off x="2139120" y="2678760"/>
            <a:ext cx="4161960" cy="303804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Por ultimo importamos nuestro </a:t>
            </a:r>
            <a:r>
              <a:rPr b="1" i="1" lang="es-ES" sz="1800" spc="-1" strike="noStrike">
                <a:solidFill>
                  <a:srgbClr val="dbefd4"/>
                </a:solidFill>
                <a:latin typeface="Calibri"/>
                <a:ea typeface="Segoe UI Black"/>
              </a:rPr>
              <a:t>Array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 de rutas con ‘</a:t>
            </a:r>
            <a:r>
              <a:rPr b="1" i="1" lang="es-ES" sz="1800" spc="-1" strike="noStrike">
                <a:solidFill>
                  <a:srgbClr val="dbefd4"/>
                </a:solidFill>
                <a:latin typeface="Calibri"/>
                <a:ea typeface="Segoe UI Black"/>
              </a:rPr>
              <a:t>forRoot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  <a:ea typeface="Segoe UI Black"/>
              </a:rPr>
              <a:t>’ y lo exportamos para poder acceder desde nuestro AppModule.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5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76" name="Imagen 6" descr=""/>
          <p:cNvPicPr/>
          <p:nvPr/>
        </p:nvPicPr>
        <p:blipFill>
          <a:blip r:embed="rId1"/>
          <a:stretch/>
        </p:blipFill>
        <p:spPr>
          <a:xfrm>
            <a:off x="1482120" y="3069720"/>
            <a:ext cx="5476680" cy="143784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8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9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80" name="Imagen 5" descr=""/>
          <p:cNvPicPr/>
          <p:nvPr/>
        </p:nvPicPr>
        <p:blipFill>
          <a:blip r:embed="rId1"/>
          <a:stretch/>
        </p:blipFill>
        <p:spPr>
          <a:xfrm>
            <a:off x="2011320" y="2214000"/>
            <a:ext cx="4417920" cy="396288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2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&lt;base href&gt;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Debemos añadir en nuestro index.html el tag </a:t>
            </a: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&lt;base href&gt; 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que nos ayudará a formar la base de nuestras url a la hora de montar enlaces.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&lt;router-outlet&gt;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Angular sustituirá el tag </a:t>
            </a:r>
            <a:r>
              <a:rPr b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&lt;router-outlet&gt; 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por el componente indicado en la configuración para la url indicada en el navegador.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84" name="Imagen 9" descr=""/>
          <p:cNvPicPr/>
          <p:nvPr/>
        </p:nvPicPr>
        <p:blipFill>
          <a:blip r:embed="rId1"/>
          <a:stretch/>
        </p:blipFill>
        <p:spPr>
          <a:xfrm>
            <a:off x="3611880" y="3239640"/>
            <a:ext cx="3994920" cy="114048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585" name="Imagen 10" descr=""/>
          <p:cNvPicPr/>
          <p:nvPr/>
        </p:nvPicPr>
        <p:blipFill>
          <a:blip r:embed="rId2"/>
          <a:stretch/>
        </p:blipFill>
        <p:spPr>
          <a:xfrm>
            <a:off x="3611880" y="5257080"/>
            <a:ext cx="3994920" cy="900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algn="tl" blurRad="29210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7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ROUTING Y NAVEGACIÓN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 u="sng">
                <a:solidFill>
                  <a:srgbClr val="c00000"/>
                </a:solidFill>
                <a:uFillTx/>
                <a:latin typeface="Calibri"/>
                <a:ea typeface="Segoe UI Black"/>
              </a:rPr>
              <a:t>Router links</a:t>
            </a:r>
            <a:r>
              <a:rPr b="1" lang="es-ES" sz="1800" spc="-1" strike="noStrike">
                <a:solidFill>
                  <a:srgbClr val="c00000"/>
                </a:solidFill>
                <a:latin typeface="Calibri"/>
                <a:ea typeface="Segoe UI Black"/>
              </a:rPr>
              <a:t>:</a:t>
            </a: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Normalmente, la navegación entre vistas se hace a través de alguna acción del usuario dentro de nuestra SPA, nosotros realizaremos esta navegación utilizando la directiva </a:t>
            </a:r>
            <a:r>
              <a:rPr b="1" i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routerLink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.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i="1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routerLinkActive</a:t>
            </a:r>
            <a:r>
              <a:rPr b="0" lang="es-ES" sz="1400" spc="-1" strike="noStrike">
                <a:solidFill>
                  <a:srgbClr val="d6fb47"/>
                </a:solidFill>
                <a:latin typeface="Calibri"/>
                <a:ea typeface="Segoe UI Black"/>
              </a:rPr>
              <a:t> </a:t>
            </a:r>
            <a:r>
              <a:rPr b="0" lang="es-ES" sz="1400" spc="-1" strike="noStrike">
                <a:solidFill>
                  <a:srgbClr val="ffffff"/>
                </a:solidFill>
                <a:latin typeface="Calibri"/>
                <a:ea typeface="Segoe UI Black"/>
              </a:rPr>
              <a:t>nos ayuda a distinguir la vista activa y añade como clase CSS: </a:t>
            </a:r>
            <a:r>
              <a:rPr b="1" i="1" lang="es-ES" sz="1400" spc="-1" strike="noStrike">
                <a:solidFill>
                  <a:srgbClr val="dbefd4"/>
                </a:solidFill>
                <a:latin typeface="Calibri"/>
                <a:ea typeface="Segoe UI Black"/>
              </a:rPr>
              <a:t>active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89" name="Imagen 4" descr=""/>
          <p:cNvPicPr/>
          <p:nvPr/>
        </p:nvPicPr>
        <p:blipFill>
          <a:blip r:embed="rId1"/>
          <a:srcRect l="2544" t="6075" r="5313" b="13265"/>
          <a:stretch/>
        </p:blipFill>
        <p:spPr>
          <a:xfrm>
            <a:off x="889560" y="3161160"/>
            <a:ext cx="6661800" cy="239436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Shape 1"/>
          <p:cNvSpPr txBox="1"/>
          <p:nvPr/>
        </p:nvSpPr>
        <p:spPr>
          <a:xfrm>
            <a:off x="317880" y="2565000"/>
            <a:ext cx="6846120" cy="28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1500" spc="-1" strike="noStrike">
                <a:solidFill>
                  <a:srgbClr val="ffffff"/>
                </a:solidFill>
                <a:latin typeface="Arial"/>
              </a:rPr>
              <a:t>Angular – Taller 4</a:t>
            </a:r>
            <a:endParaRPr b="0" lang="es-E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1" name="TextShape 2"/>
          <p:cNvSpPr txBox="1"/>
          <p:nvPr/>
        </p:nvSpPr>
        <p:spPr>
          <a:xfrm>
            <a:off x="1547640" y="3558600"/>
            <a:ext cx="5994360" cy="1241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rm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Sistema de navegación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5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Vamos a crear una estructura de navegación en nuestra aplicación, la cual va a estar formada por 3 páginas:</a:t>
            </a: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-"/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Home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: Página de entrada donde habrá un texto estático</a:t>
            </a:r>
            <a:endParaRPr b="0" lang="es-ES" sz="18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-"/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Owners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: página donde se mostrará un listado de Owners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-"/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Owner: Detlla de un owner a partir de su ID</a:t>
            </a:r>
            <a:endParaRPr b="0" lang="es-ES" sz="135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-"/>
            </a:pPr>
            <a:r>
              <a:rPr b="0" lang="es-ES" sz="1800" spc="-1" strike="noStrike">
                <a:solidFill>
                  <a:srgbClr val="d6fb47"/>
                </a:solidFill>
                <a:latin typeface="Calibri"/>
              </a:rPr>
              <a:t>Vets</a:t>
            </a: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: página donde se mostrará un listado de Vets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Vamos a crear esta aplicación paso a paso.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9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Instrucciones:</a:t>
            </a: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En primer lugar vamos a crear nuestros componentes, como ya tenemos un listado de owners, solo nos falta el homeComponent y el vetsComponent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ng g component components/home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ng g component components/vets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600" name="Imagen 8" descr=""/>
          <p:cNvPicPr/>
          <p:nvPr/>
        </p:nvPicPr>
        <p:blipFill>
          <a:blip r:embed="rId1"/>
          <a:stretch/>
        </p:blipFill>
        <p:spPr>
          <a:xfrm>
            <a:off x="1211400" y="3785760"/>
            <a:ext cx="6355440" cy="2169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2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3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4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Damos de alta la configuración de navegación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605" name="Imagen 9" descr=""/>
          <p:cNvPicPr/>
          <p:nvPr/>
        </p:nvPicPr>
        <p:blipFill>
          <a:blip r:embed="rId1"/>
          <a:stretch/>
        </p:blipFill>
        <p:spPr>
          <a:xfrm>
            <a:off x="2391840" y="2539800"/>
            <a:ext cx="3656880" cy="3335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7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8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9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En el AppComponent creamos un menú de navegación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Comprobamos el resultado: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</p:txBody>
      </p:sp>
      <p:pic>
        <p:nvPicPr>
          <p:cNvPr id="610" name="Imagen 8" descr=""/>
          <p:cNvPicPr/>
          <p:nvPr/>
        </p:nvPicPr>
        <p:blipFill>
          <a:blip r:embed="rId1"/>
          <a:stretch/>
        </p:blipFill>
        <p:spPr>
          <a:xfrm>
            <a:off x="1541880" y="2664360"/>
            <a:ext cx="5357160" cy="1187640"/>
          </a:xfrm>
          <a:prstGeom prst="rect">
            <a:avLst/>
          </a:prstGeom>
          <a:ln>
            <a:noFill/>
          </a:ln>
        </p:spPr>
      </p:pic>
      <p:pic>
        <p:nvPicPr>
          <p:cNvPr id="611" name="Imagen 10" descr=""/>
          <p:cNvPicPr/>
          <p:nvPr/>
        </p:nvPicPr>
        <p:blipFill>
          <a:blip r:embed="rId2"/>
          <a:stretch/>
        </p:blipFill>
        <p:spPr>
          <a:xfrm>
            <a:off x="1091160" y="4785480"/>
            <a:ext cx="1936080" cy="1127520"/>
          </a:xfrm>
          <a:prstGeom prst="rect">
            <a:avLst/>
          </a:prstGeom>
          <a:ln>
            <a:noFill/>
          </a:ln>
        </p:spPr>
      </p:pic>
      <p:pic>
        <p:nvPicPr>
          <p:cNvPr id="612" name="Imagen 11" descr=""/>
          <p:cNvPicPr/>
          <p:nvPr/>
        </p:nvPicPr>
        <p:blipFill>
          <a:blip r:embed="rId3"/>
          <a:stretch/>
        </p:blipFill>
        <p:spPr>
          <a:xfrm>
            <a:off x="5923800" y="4203000"/>
            <a:ext cx="1950840" cy="2208960"/>
          </a:xfrm>
          <a:prstGeom prst="rect">
            <a:avLst/>
          </a:prstGeom>
          <a:ln>
            <a:noFill/>
          </a:ln>
        </p:spPr>
      </p:pic>
      <p:pic>
        <p:nvPicPr>
          <p:cNvPr id="613" name="Imagen 12" descr=""/>
          <p:cNvPicPr/>
          <p:nvPr/>
        </p:nvPicPr>
        <p:blipFill>
          <a:blip r:embed="rId4"/>
          <a:stretch/>
        </p:blipFill>
        <p:spPr>
          <a:xfrm>
            <a:off x="3542760" y="4785480"/>
            <a:ext cx="1881720" cy="1168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5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6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7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el objeto Owner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1" i="1" lang="es-ES" sz="1800" spc="-1" strike="noStrike">
                <a:solidFill>
                  <a:srgbClr val="d6fb47"/>
                </a:solidFill>
                <a:latin typeface="Calibri"/>
              </a:rPr>
              <a:t>ng generate interface models/owner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500" spc="-1" strike="noStrike">
              <a:latin typeface="Arial"/>
            </a:endParaRPr>
          </a:p>
        </p:txBody>
      </p:sp>
      <p:pic>
        <p:nvPicPr>
          <p:cNvPr id="618" name="Imagen 9" descr=""/>
          <p:cNvPicPr/>
          <p:nvPr/>
        </p:nvPicPr>
        <p:blipFill>
          <a:blip r:embed="rId1"/>
          <a:stretch/>
        </p:blipFill>
        <p:spPr>
          <a:xfrm>
            <a:off x="1470960" y="3458520"/>
            <a:ext cx="2167920" cy="2181960"/>
          </a:xfrm>
          <a:prstGeom prst="rect">
            <a:avLst/>
          </a:prstGeom>
          <a:ln>
            <a:noFill/>
          </a:ln>
        </p:spPr>
      </p:pic>
      <p:pic>
        <p:nvPicPr>
          <p:cNvPr id="619" name="Imagen 13" descr=""/>
          <p:cNvPicPr/>
          <p:nvPr/>
        </p:nvPicPr>
        <p:blipFill>
          <a:blip r:embed="rId2"/>
          <a:stretch/>
        </p:blipFill>
        <p:spPr>
          <a:xfrm>
            <a:off x="4758480" y="3476880"/>
            <a:ext cx="2529360" cy="1959480"/>
          </a:xfrm>
          <a:prstGeom prst="rect">
            <a:avLst/>
          </a:prstGeom>
          <a:ln>
            <a:noFill/>
          </a:ln>
        </p:spPr>
      </p:pic>
      <p:sp>
        <p:nvSpPr>
          <p:cNvPr id="620" name="CustomShape 5"/>
          <p:cNvSpPr/>
          <p:nvPr/>
        </p:nvSpPr>
        <p:spPr>
          <a:xfrm>
            <a:off x="2852640" y="3106080"/>
            <a:ext cx="1349640" cy="431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Owner</a:t>
            </a:r>
            <a:endParaRPr b="0" lang="es-ES" sz="1350" spc="-1" strike="noStrike">
              <a:latin typeface="Arial"/>
            </a:endParaRPr>
          </a:p>
        </p:txBody>
      </p:sp>
      <p:sp>
        <p:nvSpPr>
          <p:cNvPr id="621" name="CustomShape 6"/>
          <p:cNvSpPr/>
          <p:nvPr/>
        </p:nvSpPr>
        <p:spPr>
          <a:xfrm>
            <a:off x="6900120" y="3106080"/>
            <a:ext cx="999000" cy="43164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350" spc="-1" strike="noStrike">
                <a:solidFill>
                  <a:srgbClr val="ffffff"/>
                </a:solidFill>
                <a:latin typeface="Calibri"/>
              </a:rPr>
              <a:t>Pet</a:t>
            </a:r>
            <a:endParaRPr b="0" lang="es-E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3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4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5" name="CustomShape 4"/>
          <p:cNvSpPr/>
          <p:nvPr/>
        </p:nvSpPr>
        <p:spPr>
          <a:xfrm>
            <a:off x="628560" y="2052720"/>
            <a:ext cx="7786080" cy="325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Modificamos nuestro servicio para que devuelva un Owner directamente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626" name="Imagen 10" descr=""/>
          <p:cNvPicPr/>
          <p:nvPr/>
        </p:nvPicPr>
        <p:blipFill>
          <a:blip r:embed="rId1"/>
          <a:stretch/>
        </p:blipFill>
        <p:spPr>
          <a:xfrm>
            <a:off x="1303200" y="2664360"/>
            <a:ext cx="6508800" cy="669960"/>
          </a:xfrm>
          <a:prstGeom prst="rect">
            <a:avLst/>
          </a:prstGeom>
          <a:ln>
            <a:noFill/>
          </a:ln>
        </p:spPr>
      </p:pic>
      <p:pic>
        <p:nvPicPr>
          <p:cNvPr id="627" name="Imagen 11" descr=""/>
          <p:cNvPicPr/>
          <p:nvPr/>
        </p:nvPicPr>
        <p:blipFill>
          <a:blip r:embed="rId2"/>
          <a:stretch/>
        </p:blipFill>
        <p:spPr>
          <a:xfrm>
            <a:off x="2097360" y="3588840"/>
            <a:ext cx="4920840" cy="2128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9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0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31" name="CustomShape 4"/>
          <p:cNvSpPr/>
          <p:nvPr/>
        </p:nvSpPr>
        <p:spPr>
          <a:xfrm>
            <a:off x="628560" y="2052720"/>
            <a:ext cx="7786080" cy="422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950" spc="-1" strike="noStrike">
                <a:solidFill>
                  <a:srgbClr val="ffffff"/>
                </a:solidFill>
                <a:latin typeface="Calibri"/>
              </a:rPr>
              <a:t>Creamos un nuevo componente para la vista de detalle</a:t>
            </a:r>
            <a:endParaRPr b="0" lang="es-ES" sz="19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	</a:t>
            </a:r>
            <a:r>
              <a:rPr b="0" lang="es-ES" sz="1500" spc="-1" strike="noStrike">
                <a:solidFill>
                  <a:srgbClr val="d6fb47"/>
                </a:solidFill>
                <a:latin typeface="Calibri"/>
              </a:rPr>
              <a:t>ng g component components/detailOwner</a:t>
            </a:r>
            <a:endParaRPr b="0" lang="es-ES" sz="150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950" spc="-1" strike="noStrike">
                <a:solidFill>
                  <a:srgbClr val="ffffff"/>
                </a:solidFill>
                <a:latin typeface="Calibri"/>
              </a:rPr>
              <a:t>Damos de alta la vista en el routing</a:t>
            </a:r>
            <a:endParaRPr b="0" lang="es-ES" sz="19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9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9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95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950" spc="-1" strike="noStrike">
              <a:latin typeface="Arial"/>
            </a:endParaRPr>
          </a:p>
          <a:p>
            <a:pPr marL="128520" indent="-128160">
              <a:lnSpc>
                <a:spcPct val="90000"/>
              </a:lnSpc>
              <a:spcBef>
                <a:spcPts val="564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950" spc="-1" strike="noStrike">
                <a:solidFill>
                  <a:srgbClr val="ffffff"/>
                </a:solidFill>
                <a:latin typeface="Calibri"/>
              </a:rPr>
              <a:t>Cambiamos el componente list para mostrar un owner concreto.Hay dos formas de hacer esto:</a:t>
            </a:r>
            <a:endParaRPr b="0" lang="es-ES" sz="195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Usando routerLink con nuestra url: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 marL="514440"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Usando un evento click que nos redirija</a:t>
            </a:r>
            <a:endParaRPr b="0" lang="es-ES" sz="1800" spc="-1" strike="noStrike">
              <a:latin typeface="Arial"/>
            </a:endParaRPr>
          </a:p>
          <a:p>
            <a:pPr marL="257040">
              <a:lnSpc>
                <a:spcPct val="90000"/>
              </a:lnSpc>
              <a:spcBef>
                <a:spcPts val="281"/>
              </a:spcBef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a la ruta deseada: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632" name="Imagen 8" descr=""/>
          <p:cNvPicPr/>
          <p:nvPr/>
        </p:nvPicPr>
        <p:blipFill>
          <a:blip r:embed="rId1"/>
          <a:stretch/>
        </p:blipFill>
        <p:spPr>
          <a:xfrm>
            <a:off x="2714400" y="2965320"/>
            <a:ext cx="3614400" cy="1015560"/>
          </a:xfrm>
          <a:prstGeom prst="rect">
            <a:avLst/>
          </a:prstGeom>
          <a:ln>
            <a:noFill/>
          </a:ln>
        </p:spPr>
      </p:pic>
      <p:pic>
        <p:nvPicPr>
          <p:cNvPr id="633" name="Imagen 9" descr=""/>
          <p:cNvPicPr/>
          <p:nvPr/>
        </p:nvPicPr>
        <p:blipFill>
          <a:blip r:embed="rId2"/>
          <a:stretch/>
        </p:blipFill>
        <p:spPr>
          <a:xfrm>
            <a:off x="4451760" y="4324320"/>
            <a:ext cx="3754800" cy="1136880"/>
          </a:xfrm>
          <a:prstGeom prst="rect">
            <a:avLst/>
          </a:prstGeom>
          <a:ln>
            <a:noFill/>
          </a:ln>
        </p:spPr>
      </p:pic>
      <p:pic>
        <p:nvPicPr>
          <p:cNvPr id="634" name="Imagen 12" descr=""/>
          <p:cNvPicPr/>
          <p:nvPr/>
        </p:nvPicPr>
        <p:blipFill>
          <a:blip r:embed="rId3"/>
          <a:stretch/>
        </p:blipFill>
        <p:spPr>
          <a:xfrm>
            <a:off x="5006520" y="5586480"/>
            <a:ext cx="3200040" cy="524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extShape 1"/>
          <p:cNvSpPr txBox="1"/>
          <p:nvPr/>
        </p:nvSpPr>
        <p:spPr>
          <a:xfrm>
            <a:off x="628560" y="1609560"/>
            <a:ext cx="7183440" cy="31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400" spc="-1" strike="noStrike" u="sng">
                <a:solidFill>
                  <a:srgbClr val="ffffff"/>
                </a:solidFill>
                <a:uFillTx/>
                <a:latin typeface="Segoe UI Black"/>
                <a:ea typeface="Segoe UI Black"/>
              </a:rPr>
              <a:t>Taller 4: Sistemas de navegación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564"/>
              </a:spcBef>
            </a:pP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36" name="TextShape 2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7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38" name="CustomShape 4"/>
          <p:cNvSpPr/>
          <p:nvPr/>
        </p:nvSpPr>
        <p:spPr>
          <a:xfrm>
            <a:off x="628560" y="2052720"/>
            <a:ext cx="7786080" cy="422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lvl="1" marL="385920" indent="-128160">
              <a:lnSpc>
                <a:spcPct val="90000"/>
              </a:lnSpc>
              <a:spcBef>
                <a:spcPts val="281"/>
              </a:spcBef>
              <a:buClr>
                <a:srgbClr val="455f51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Editamos el componente DetailOwner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639" name="Imagen 10" descr=""/>
          <p:cNvPicPr/>
          <p:nvPr/>
        </p:nvPicPr>
        <p:blipFill>
          <a:blip r:embed="rId1"/>
          <a:stretch/>
        </p:blipFill>
        <p:spPr>
          <a:xfrm>
            <a:off x="2596680" y="2496240"/>
            <a:ext cx="3850200" cy="2993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1" name="TextShape 2"/>
          <p:cNvSpPr txBox="1"/>
          <p:nvPr/>
        </p:nvSpPr>
        <p:spPr>
          <a:xfrm>
            <a:off x="628560" y="1609560"/>
            <a:ext cx="7183440" cy="456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s-ES" sz="2000" spc="-1" strike="noStrike" u="sng">
                <a:solidFill>
                  <a:srgbClr val="c00000"/>
                </a:solidFill>
                <a:uFillTx/>
                <a:latin typeface="Calibri"/>
              </a:rPr>
              <a:t>FRAMEWORKS UI</a:t>
            </a: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200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NGX-Bootstrap: </a:t>
            </a:r>
            <a:r>
              <a:rPr b="0" lang="es-ES" sz="145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1"/>
              </a:rPr>
              <a:t>https://valor-software.com/ngx-bootstrap/#/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Angular Material: </a:t>
            </a:r>
            <a:r>
              <a:rPr b="0" lang="es-ES" sz="145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2"/>
              </a:rPr>
              <a:t>https://material.angular.io/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NG-Semantic (basado en Semantic-UI): </a:t>
            </a:r>
            <a:r>
              <a:rPr b="0" lang="es-ES" sz="145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3"/>
              </a:rPr>
              <a:t>https://ng-semantic.herokuapp.com/#/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Onsen UI for Angular: </a:t>
            </a:r>
            <a:r>
              <a:rPr b="0" lang="es-ES" sz="145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4"/>
              </a:rPr>
              <a:t>https://onsen.io/angular2/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 lvl="1" marL="285840" indent="-285480">
              <a:lnSpc>
                <a:spcPct val="100000"/>
              </a:lnSpc>
              <a:buClr>
                <a:srgbClr val="455f51"/>
              </a:buClr>
              <a:buFont typeface="Arial"/>
              <a:buChar char="•"/>
            </a:pPr>
            <a:r>
              <a:rPr b="0" lang="es-ES" sz="1450" spc="-1" strike="noStrike">
                <a:solidFill>
                  <a:srgbClr val="ffffff"/>
                </a:solidFill>
                <a:latin typeface="Calibri"/>
                <a:ea typeface="Segoe UI Black"/>
              </a:rPr>
              <a:t>Prime NG (basado en Prime Faces): </a:t>
            </a:r>
            <a:r>
              <a:rPr b="0" lang="es-ES" sz="1450" spc="-1" strike="noStrike" u="sng">
                <a:solidFill>
                  <a:srgbClr val="6b9f25"/>
                </a:solidFill>
                <a:uFillTx/>
                <a:latin typeface="Calibri"/>
                <a:ea typeface="Segoe UI Black"/>
                <a:hlinkClick r:id="rId5"/>
              </a:rPr>
              <a:t>https://www.primefaces.org/primeng/#/</a:t>
            </a: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5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42" name="TextShape 3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Shape 1"/>
          <p:cNvSpPr txBox="1"/>
          <p:nvPr/>
        </p:nvSpPr>
        <p:spPr>
          <a:xfrm>
            <a:off x="628560" y="365040"/>
            <a:ext cx="7183440" cy="50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1" lang="es-ES" sz="2029" spc="-1" strike="noStrike">
                <a:solidFill>
                  <a:srgbClr val="d6fb47"/>
                </a:solidFill>
                <a:latin typeface="Arial Rounded MT Bold"/>
              </a:rPr>
              <a:t>Road to Angular</a:t>
            </a:r>
            <a:endParaRPr b="0" lang="es-ES" sz="2029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4" name="TextShape 2"/>
          <p:cNvSpPr txBox="1"/>
          <p:nvPr/>
        </p:nvSpPr>
        <p:spPr>
          <a:xfrm>
            <a:off x="628560" y="997920"/>
            <a:ext cx="7183440" cy="486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spcBef>
                <a:spcPts val="564"/>
              </a:spcBef>
            </a:pPr>
            <a:r>
              <a:rPr b="0" lang="es-ES" sz="1500" spc="-1" strike="noStrike">
                <a:solidFill>
                  <a:srgbClr val="d6fb47"/>
                </a:solidFill>
                <a:latin typeface="Segoe UI Semibold"/>
              </a:rPr>
              <a:t>Angular</a:t>
            </a:r>
            <a:endParaRPr b="0" lang="es-ES" sz="15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45" name="CustomShape 3"/>
          <p:cNvSpPr/>
          <p:nvPr/>
        </p:nvSpPr>
        <p:spPr>
          <a:xfrm>
            <a:off x="628560" y="1609560"/>
            <a:ext cx="4571640" cy="124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ES" sz="2200" spc="-1" strike="noStrike">
                <a:solidFill>
                  <a:srgbClr val="46ccf6"/>
                </a:solidFill>
                <a:latin typeface="Calibri"/>
              </a:rPr>
              <a:t>¡Gracias a todos por asistir!</a:t>
            </a:r>
            <a:endParaRPr b="0" lang="es-E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adf664"/>
                </a:solidFill>
                <a:latin typeface="Calibri"/>
              </a:rPr>
              <a:t>Everis Sevilla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646" name="CustomShape 4"/>
          <p:cNvSpPr/>
          <p:nvPr/>
        </p:nvSpPr>
        <p:spPr>
          <a:xfrm>
            <a:off x="852120" y="3292200"/>
            <a:ext cx="6959880" cy="285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3200" spc="-1" strike="noStrike">
                <a:solidFill>
                  <a:srgbClr val="404040"/>
                </a:solidFill>
                <a:latin typeface="Calibri"/>
              </a:rPr>
              <a:t>IS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647" name="Imagen 9" descr=""/>
          <p:cNvPicPr/>
          <p:nvPr/>
        </p:nvPicPr>
        <p:blipFill>
          <a:blip r:embed="rId1"/>
          <a:stretch/>
        </p:blipFill>
        <p:spPr>
          <a:xfrm>
            <a:off x="1953000" y="2996280"/>
            <a:ext cx="4722480" cy="2229840"/>
          </a:xfrm>
          <a:prstGeom prst="rect">
            <a:avLst/>
          </a:prstGeom>
          <a:ln>
            <a:noFill/>
          </a:ln>
        </p:spPr>
      </p:pic>
      <p:pic>
        <p:nvPicPr>
          <p:cNvPr id="648" name="Imagen 10" descr=""/>
          <p:cNvPicPr/>
          <p:nvPr/>
        </p:nvPicPr>
        <p:blipFill>
          <a:blip r:embed="rId2"/>
          <a:stretch/>
        </p:blipFill>
        <p:spPr>
          <a:xfrm>
            <a:off x="2355480" y="4794120"/>
            <a:ext cx="3811680" cy="1065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82677DC17265489679A83D3BF00A5B" ma:contentTypeVersion="5" ma:contentTypeDescription="Crear nuevo documento." ma:contentTypeScope="" ma:versionID="1aedc35ed288deb847cfaf17c7ee3b4b">
  <xsd:schema xmlns:xsd="http://www.w3.org/2001/XMLSchema" xmlns:xs="http://www.w3.org/2001/XMLSchema" xmlns:p="http://schemas.microsoft.com/office/2006/metadata/properties" xmlns:ns2="37b458f3-74fd-474a-91a5-8181f3470433" xmlns:ns3="facfe95a-cd73-4bbb-8a1d-69d0d6405f93" targetNamespace="http://schemas.microsoft.com/office/2006/metadata/properties" ma:root="true" ma:fieldsID="1dd0026738fa698932f590a07fe1389f" ns2:_="" ns3:_="">
    <xsd:import namespace="37b458f3-74fd-474a-91a5-8181f3470433"/>
    <xsd:import namespace="facfe95a-cd73-4bbb-8a1d-69d0d6405f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b458f3-74fd-474a-91a5-8181f34704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fe95a-cd73-4bbb-8a1d-69d0d6405f9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380C37-7319-4DF2-B2FF-CD3861CAE5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409DAA-50BE-4E14-AC26-62C1E4492FA4}">
  <ds:schemaRefs>
    <ds:schemaRef ds:uri="65417493-5da3-4674-811e-996b791727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CBB7721-6251-4D5C-AA78-860F1E803C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b458f3-74fd-474a-91a5-8181f3470433"/>
    <ds:schemaRef ds:uri="facfe95a-cd73-4bbb-8a1d-69d0d6405f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Tema-formaciones</Template>
  <TotalTime>1434</TotalTime>
  <Application>LibreOffice/6.3.4.2$Windows_X86_64 LibreOffice_project/60da17e045e08f1793c57c00ba83cdfce946d0aa</Application>
  <Words>3980</Words>
  <Paragraphs>989</Paragraphs>
  <Company>Everis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2019-02-03T20:30:26Z</dcterms:created>
  <dc:creator>Alejandro Sevillano Moreno</dc:creator>
  <dc:description/>
  <dc:language>es-ES</dc:language>
  <cp:lastModifiedBy/>
  <dcterms:modified xsi:type="dcterms:W3CDTF">2020-04-29T09:18:10Z</dcterms:modified>
  <cp:revision>16</cp:revision>
  <dc:subject/>
  <dc:title>Beca Frontend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Company">
    <vt:lpwstr>Everis</vt:lpwstr>
  </property>
  <property fmtid="{D5CDD505-2E9C-101B-9397-08002B2CF9AE}" pid="4" name="ContentTypeId">
    <vt:lpwstr>0x0101006782677DC17265489679A83D3BF00A5B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MClips">
    <vt:i4>0</vt:i4>
  </property>
  <property fmtid="{D5CDD505-2E9C-101B-9397-08002B2CF9AE}" pid="9" name="Notes">
    <vt:i4>61</vt:i4>
  </property>
  <property fmtid="{D5CDD505-2E9C-101B-9397-08002B2CF9AE}" pid="10" name="PresentationFormat">
    <vt:lpwstr>Presentación en pantalla (4:3)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104</vt:i4>
  </property>
</Properties>
</file>